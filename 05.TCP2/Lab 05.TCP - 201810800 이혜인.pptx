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8" r:id="rId2"/>
    <p:sldId id="295" r:id="rId3"/>
    <p:sldId id="308" r:id="rId4"/>
    <p:sldId id="364" r:id="rId5"/>
    <p:sldId id="367" r:id="rId6"/>
    <p:sldId id="365" r:id="rId7"/>
    <p:sldId id="368" r:id="rId8"/>
    <p:sldId id="360" r:id="rId9"/>
    <p:sldId id="369" r:id="rId10"/>
    <p:sldId id="366"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6067"/>
    <a:srgbClr val="4F403F"/>
    <a:srgbClr val="64504F"/>
    <a:srgbClr val="E3E1E1"/>
    <a:srgbClr val="F4CD42"/>
    <a:srgbClr val="CAA10C"/>
    <a:srgbClr val="D0AF90"/>
    <a:srgbClr val="EAEAEA"/>
    <a:srgbClr val="F8F8F8"/>
    <a:srgbClr val="F4BD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4" autoAdjust="0"/>
    <p:restoredTop sz="94660"/>
  </p:normalViewPr>
  <p:slideViewPr>
    <p:cSldViewPr snapToGrid="0">
      <p:cViewPr varScale="1">
        <p:scale>
          <a:sx n="67" d="100"/>
          <a:sy n="67" d="100"/>
        </p:scale>
        <p:origin x="6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82433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310140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6419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1659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47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070277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094888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928434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92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40390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257609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DDA607-1878-474E-AFDE-19D592E59C11}" type="datetimeFigureOut">
              <a:rPr lang="ko-KR" altLang="en-US" smtClean="0">
                <a:solidFill>
                  <a:prstClr val="black">
                    <a:tint val="75000"/>
                  </a:prstClr>
                </a:solidFill>
              </a:rPr>
              <a:pPr/>
              <a:t>2020-03-08</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319126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prstClr val="white"/>
                </a:solidFill>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grpSp>
        <p:nvGrpSpPr>
          <p:cNvPr id="4" name="그룹 3"/>
          <p:cNvGrpSpPr/>
          <p:nvPr/>
        </p:nvGrpSpPr>
        <p:grpSpPr>
          <a:xfrm>
            <a:off x="5813272" y="538277"/>
            <a:ext cx="4695618" cy="5746349"/>
            <a:chOff x="4784572" y="522731"/>
            <a:chExt cx="4695618" cy="5746349"/>
          </a:xfrm>
        </p:grpSpPr>
        <p:grpSp>
          <p:nvGrpSpPr>
            <p:cNvPr id="30" name="그룹 29"/>
            <p:cNvGrpSpPr/>
            <p:nvPr/>
          </p:nvGrpSpPr>
          <p:grpSpPr>
            <a:xfrm rot="21403890">
              <a:off x="4784572" y="522731"/>
              <a:ext cx="4695618" cy="5746349"/>
              <a:chOff x="6676455" y="533399"/>
              <a:chExt cx="4675932" cy="5722257"/>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sp>
          <p:nvSpPr>
            <p:cNvPr id="3" name="모서리가 둥근 직사각형 2"/>
            <p:cNvSpPr/>
            <p:nvPr/>
          </p:nvSpPr>
          <p:spPr>
            <a:xfrm rot="18834276">
              <a:off x="4816742" y="829797"/>
              <a:ext cx="327660" cy="45719"/>
            </a:xfrm>
            <a:prstGeom prst="roundRect">
              <a:avLst/>
            </a:prstGeom>
            <a:solidFill>
              <a:srgbClr val="64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p:cNvGrpSpPr/>
          <p:nvPr/>
        </p:nvGrpSpPr>
        <p:grpSpPr>
          <a:xfrm>
            <a:off x="6654428" y="223899"/>
            <a:ext cx="4916661" cy="6204934"/>
            <a:chOff x="6676455" y="354528"/>
            <a:chExt cx="4675932" cy="5901128"/>
          </a:xfrm>
        </p:grpSpPr>
        <p:sp>
          <p:nvSpPr>
            <p:cNvPr id="10" name="직사각형 9"/>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6" name="직사각형 15"/>
            <p:cNvSpPr/>
            <p:nvPr/>
          </p:nvSpPr>
          <p:spPr>
            <a:xfrm>
              <a:off x="6734798" y="533399"/>
              <a:ext cx="4617589" cy="5722257"/>
            </a:xfrm>
            <a:prstGeom prst="rect">
              <a:avLst/>
            </a:prstGeom>
            <a:solidFill>
              <a:schemeClr val="bg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prstClr val="white"/>
                </a:solidFill>
              </a:endParaRPr>
            </a:p>
          </p:txBody>
        </p:sp>
        <p:sp>
          <p:nvSpPr>
            <p:cNvPr id="27" name="자유형 26"/>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sp>
        <p:nvSpPr>
          <p:cNvPr id="52" name="직사각형 51"/>
          <p:cNvSpPr/>
          <p:nvPr/>
        </p:nvSpPr>
        <p:spPr>
          <a:xfrm>
            <a:off x="1432989" y="1075576"/>
            <a:ext cx="4085832" cy="1935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ko-KR" altLang="en-US" sz="4000" b="1" i="1" dirty="0">
                <a:solidFill>
                  <a:schemeClr val="bg1"/>
                </a:solidFill>
                <a:latin typeface="+mn-ea"/>
                <a:cs typeface="Aharoni" panose="02010803020104030203" pitchFamily="2" charset="-79"/>
              </a:rPr>
              <a:t>네트워크 </a:t>
            </a:r>
            <a:endParaRPr lang="en-US" altLang="ko-KR" sz="4000" b="1" i="1" dirty="0">
              <a:solidFill>
                <a:schemeClr val="bg1"/>
              </a:solidFill>
              <a:latin typeface="+mn-ea"/>
              <a:cs typeface="Aharoni" panose="02010803020104030203" pitchFamily="2" charset="-79"/>
            </a:endParaRPr>
          </a:p>
          <a:p>
            <a:r>
              <a:rPr lang="ko-KR" altLang="en-US" sz="4000" b="1" i="1" dirty="0">
                <a:solidFill>
                  <a:schemeClr val="bg1"/>
                </a:solidFill>
                <a:latin typeface="+mn-ea"/>
                <a:cs typeface="Aharoni" panose="02010803020104030203" pitchFamily="2" charset="-79"/>
              </a:rPr>
              <a:t>프로그래밍</a:t>
            </a:r>
            <a:endParaRPr lang="en-US" altLang="ko-KR" sz="4000" b="1" i="1" dirty="0">
              <a:solidFill>
                <a:schemeClr val="bg1"/>
              </a:solidFill>
              <a:latin typeface="+mn-ea"/>
              <a:cs typeface="Aharoni" panose="02010803020104030203" pitchFamily="2" charset="-79"/>
            </a:endParaRPr>
          </a:p>
          <a:p>
            <a:endParaRPr lang="en-US" altLang="ko-KR" sz="1000" b="1" dirty="0">
              <a:solidFill>
                <a:schemeClr val="bg1"/>
              </a:solidFill>
              <a:latin typeface="+mn-ea"/>
              <a:cs typeface="Aharoni" panose="02010803020104030203" pitchFamily="2" charset="-79"/>
            </a:endParaRPr>
          </a:p>
          <a:p>
            <a:pPr algn="ctr">
              <a:lnSpc>
                <a:spcPct val="150000"/>
              </a:lnSpc>
            </a:pPr>
            <a:r>
              <a:rPr lang="en-US" altLang="ko-KR" sz="2000" b="1" i="1" dirty="0"/>
              <a:t>05. </a:t>
            </a:r>
            <a:r>
              <a:rPr lang="en-US" altLang="ko-KR" sz="2000" b="1" i="1" dirty="0">
                <a:solidFill>
                  <a:schemeClr val="bg1"/>
                </a:solidFill>
              </a:rPr>
              <a:t>Wireshark_TCP_v6.0</a:t>
            </a:r>
          </a:p>
        </p:txBody>
      </p:sp>
      <p:sp>
        <p:nvSpPr>
          <p:cNvPr id="7" name="직사각형 6"/>
          <p:cNvSpPr/>
          <p:nvPr/>
        </p:nvSpPr>
        <p:spPr>
          <a:xfrm>
            <a:off x="8644961" y="1200852"/>
            <a:ext cx="996940" cy="276999"/>
          </a:xfrm>
          <a:prstGeom prst="rect">
            <a:avLst/>
          </a:prstGeom>
        </p:spPr>
        <p:txBody>
          <a:bodyPr wrap="none">
            <a:spAutoFit/>
          </a:bodyPr>
          <a:lstStyle/>
          <a:p>
            <a:pPr algn="ctr"/>
            <a:r>
              <a:rPr lang="en-US" altLang="ko-KR" sz="1200" b="1" i="1" dirty="0">
                <a:solidFill>
                  <a:srgbClr val="64504F"/>
                </a:solidFill>
                <a:latin typeface="+mn-ea"/>
                <a:cs typeface="Aharoni" panose="02010803020104030203" pitchFamily="2" charset="-79"/>
              </a:rPr>
              <a:t>CONTENTS</a:t>
            </a:r>
          </a:p>
        </p:txBody>
      </p:sp>
      <p:cxnSp>
        <p:nvCxnSpPr>
          <p:cNvPr id="12" name="직선 연결선 11"/>
          <p:cNvCxnSpPr/>
          <p:nvPr/>
        </p:nvCxnSpPr>
        <p:spPr>
          <a:xfrm>
            <a:off x="8891431" y="1579367"/>
            <a:ext cx="504000" cy="286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모서리가 둥근 직사각형 12"/>
          <p:cNvSpPr/>
          <p:nvPr/>
        </p:nvSpPr>
        <p:spPr>
          <a:xfrm>
            <a:off x="1457082" y="4655402"/>
            <a:ext cx="3239321" cy="898579"/>
          </a:xfrm>
          <a:prstGeom prst="roundRect">
            <a:avLst>
              <a:gd name="adj" fmla="val 15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ko-KR" altLang="en-US" sz="1400" dirty="0">
                <a:solidFill>
                  <a:schemeClr val="tx1">
                    <a:lumMod val="75000"/>
                    <a:lumOff val="25000"/>
                  </a:schemeClr>
                </a:solidFill>
                <a:latin typeface="+mn-ea"/>
              </a:rPr>
              <a:t>휴먼지능정보공학과 </a:t>
            </a:r>
            <a:r>
              <a:rPr lang="en-US" altLang="ko-KR" sz="1400" dirty="0">
                <a:solidFill>
                  <a:schemeClr val="tx1">
                    <a:lumMod val="75000"/>
                    <a:lumOff val="25000"/>
                  </a:schemeClr>
                </a:solidFill>
                <a:latin typeface="+mn-ea"/>
              </a:rPr>
              <a:t>201810800 </a:t>
            </a:r>
          </a:p>
          <a:p>
            <a:pPr lvl="0" algn="ctr">
              <a:lnSpc>
                <a:spcPct val="150000"/>
              </a:lnSpc>
            </a:pPr>
            <a:r>
              <a:rPr lang="ko-KR" altLang="en-US" sz="1400" b="1" dirty="0">
                <a:solidFill>
                  <a:schemeClr val="tx1">
                    <a:lumMod val="75000"/>
                    <a:lumOff val="25000"/>
                  </a:schemeClr>
                </a:solidFill>
                <a:latin typeface="+mn-ea"/>
              </a:rPr>
              <a:t>이혜인</a:t>
            </a:r>
            <a:endParaRPr lang="en-US" altLang="ko-KR" sz="1400" b="1" dirty="0">
              <a:solidFill>
                <a:schemeClr val="tx1">
                  <a:lumMod val="75000"/>
                  <a:lumOff val="25000"/>
                </a:schemeClr>
              </a:solidFill>
              <a:latin typeface="+mn-ea"/>
            </a:endParaRPr>
          </a:p>
        </p:txBody>
      </p:sp>
      <p:sp>
        <p:nvSpPr>
          <p:cNvPr id="90" name="모서리가 둥근 직사각형 89"/>
          <p:cNvSpPr/>
          <p:nvPr/>
        </p:nvSpPr>
        <p:spPr>
          <a:xfrm rot="5400000">
            <a:off x="-236805" y="1675976"/>
            <a:ext cx="2162714" cy="279384"/>
          </a:xfrm>
          <a:prstGeom prst="roundRect">
            <a:avLst>
              <a:gd name="adj" fmla="val 327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endParaRPr lang="en-US" altLang="ko-KR" sz="1400" b="1" dirty="0">
              <a:solidFill>
                <a:schemeClr val="tx1">
                  <a:lumMod val="75000"/>
                  <a:lumOff val="25000"/>
                </a:schemeClr>
              </a:solidFill>
              <a:latin typeface="+mn-ea"/>
            </a:endParaRPr>
          </a:p>
        </p:txBody>
      </p:sp>
      <p:sp>
        <p:nvSpPr>
          <p:cNvPr id="11" name="직사각형 10">
            <a:extLst>
              <a:ext uri="{FF2B5EF4-FFF2-40B4-BE49-F238E27FC236}">
                <a16:creationId xmlns:a16="http://schemas.microsoft.com/office/drawing/2014/main" id="{37B6C3F3-C7CE-45E9-89E1-F9500C5408AF}"/>
              </a:ext>
            </a:extLst>
          </p:cNvPr>
          <p:cNvSpPr/>
          <p:nvPr/>
        </p:nvSpPr>
        <p:spPr>
          <a:xfrm>
            <a:off x="7127260" y="2900157"/>
            <a:ext cx="4298039" cy="609911"/>
          </a:xfrm>
          <a:prstGeom prst="rect">
            <a:avLst/>
          </a:prstGeom>
        </p:spPr>
        <p:txBody>
          <a:bodyPr wrap="square">
            <a:spAutoFit/>
          </a:bodyPr>
          <a:lstStyle/>
          <a:p>
            <a:pPr>
              <a:lnSpc>
                <a:spcPct val="200000"/>
              </a:lnSpc>
            </a:pPr>
            <a:r>
              <a:rPr lang="en-US" altLang="ko-KR" sz="2000" b="1" i="1" dirty="0">
                <a:solidFill>
                  <a:srgbClr val="64504F"/>
                </a:solidFill>
              </a:rPr>
              <a:t>Lab 05 : TCP</a:t>
            </a:r>
            <a:r>
              <a:rPr lang="ko-KR" altLang="en-US" sz="2000" b="1" i="1" dirty="0">
                <a:solidFill>
                  <a:srgbClr val="64504F"/>
                </a:solidFill>
              </a:rPr>
              <a:t> </a:t>
            </a:r>
            <a:r>
              <a:rPr lang="en-US" altLang="ko-KR" sz="2000" b="1" i="1" dirty="0">
                <a:solidFill>
                  <a:srgbClr val="64504F"/>
                </a:solidFill>
              </a:rPr>
              <a:t>Congestion</a:t>
            </a:r>
            <a:r>
              <a:rPr lang="ko-KR" altLang="en-US" sz="2000" b="1" i="1" dirty="0">
                <a:solidFill>
                  <a:srgbClr val="64504F"/>
                </a:solidFill>
              </a:rPr>
              <a:t> </a:t>
            </a:r>
            <a:r>
              <a:rPr lang="en-US" altLang="ko-KR" sz="2000" b="1" i="1" dirty="0">
                <a:solidFill>
                  <a:srgbClr val="64504F"/>
                </a:solidFill>
              </a:rPr>
              <a:t>control</a:t>
            </a:r>
          </a:p>
        </p:txBody>
      </p:sp>
    </p:spTree>
    <p:extLst>
      <p:ext uri="{BB962C8B-B14F-4D97-AF65-F5344CB8AC3E}">
        <p14:creationId xmlns:p14="http://schemas.microsoft.com/office/powerpoint/2010/main" val="53396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sp>
        <p:nvSpPr>
          <p:cNvPr id="9" name="직사각형 8"/>
          <p:cNvSpPr/>
          <p:nvPr/>
        </p:nvSpPr>
        <p:spPr>
          <a:xfrm rot="5400000">
            <a:off x="269785" y="1531607"/>
            <a:ext cx="1128835" cy="523220"/>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1" u="none" strike="noStrike" kern="1200" cap="none" spc="0" normalizeH="0" baseline="0" noProof="0" dirty="0">
                <a:ln>
                  <a:noFill/>
                </a:ln>
                <a:solidFill>
                  <a:schemeClr val="bg1"/>
                </a:solidFill>
                <a:effectLst/>
                <a:uLnTx/>
                <a:uFillTx/>
                <a:latin typeface="맑은 고딕" panose="020F0502020204030204"/>
                <a:ea typeface="맑은 고딕" panose="020B0503020000020004" pitchFamily="50" charset="-127"/>
                <a:cs typeface="+mn-cs"/>
              </a:rPr>
              <a:t>Index</a:t>
            </a:r>
            <a:endParaRPr kumimoji="0" lang="ko-KR" altLang="en-US" sz="2800" b="1" u="none" strike="noStrike" kern="1200" cap="none" spc="0" normalizeH="0" baseline="0" noProof="0" dirty="0">
              <a:ln>
                <a:noFill/>
              </a:ln>
              <a:solidFill>
                <a:schemeClr val="bg1"/>
              </a:solidFill>
              <a:effectLst/>
              <a:uLnTx/>
              <a:uFillTx/>
              <a:latin typeface="맑은 고딕" panose="020F0502020204030204"/>
              <a:ea typeface="맑은 고딕" panose="020B0503020000020004" pitchFamily="50" charset="-127"/>
              <a:cs typeface="+mn-cs"/>
            </a:endParaRPr>
          </a:p>
        </p:txBody>
      </p:sp>
      <p:sp>
        <p:nvSpPr>
          <p:cNvPr id="21" name="제목 1">
            <a:extLst>
              <a:ext uri="{FF2B5EF4-FFF2-40B4-BE49-F238E27FC236}">
                <a16:creationId xmlns:a16="http://schemas.microsoft.com/office/drawing/2014/main" id="{A3EF01DF-3B19-41ED-AD62-319133FDDAA6}"/>
              </a:ext>
            </a:extLst>
          </p:cNvPr>
          <p:cNvSpPr>
            <a:spLocks noGrp="1"/>
          </p:cNvSpPr>
          <p:nvPr>
            <p:ph type="title"/>
          </p:nvPr>
        </p:nvSpPr>
        <p:spPr>
          <a:xfrm>
            <a:off x="2607333" y="581300"/>
            <a:ext cx="5603217" cy="561700"/>
          </a:xfrm>
        </p:spPr>
        <p:txBody>
          <a:bodyPr>
            <a:normAutofit/>
          </a:bodyPr>
          <a:lstStyle/>
          <a:p>
            <a:r>
              <a:rPr lang="en-US" altLang="ko-KR" sz="2800" b="1" i="1" dirty="0">
                <a:solidFill>
                  <a:srgbClr val="64504F"/>
                </a:solidFill>
              </a:rPr>
              <a:t>Lab 05 :TCP</a:t>
            </a:r>
            <a:r>
              <a:rPr lang="ko-KR" altLang="en-US" sz="2800" b="1" i="1" dirty="0">
                <a:solidFill>
                  <a:srgbClr val="64504F"/>
                </a:solidFill>
              </a:rPr>
              <a:t> </a:t>
            </a:r>
            <a:r>
              <a:rPr lang="en-US" altLang="ko-KR" sz="2800" b="1" i="1" dirty="0">
                <a:solidFill>
                  <a:srgbClr val="64504F"/>
                </a:solidFill>
              </a:rPr>
              <a:t>Congestion</a:t>
            </a:r>
            <a:r>
              <a:rPr lang="ko-KR" altLang="en-US" sz="2800" b="1" i="1" dirty="0">
                <a:solidFill>
                  <a:srgbClr val="64504F"/>
                </a:solidFill>
              </a:rPr>
              <a:t> </a:t>
            </a:r>
            <a:r>
              <a:rPr lang="en-US" altLang="ko-KR" sz="2800" b="1" i="1" dirty="0">
                <a:solidFill>
                  <a:srgbClr val="64504F"/>
                </a:solidFill>
              </a:rPr>
              <a:t>control</a:t>
            </a:r>
            <a:endParaRPr lang="ko-KR" altLang="en-US" sz="2800" b="1" i="1" dirty="0">
              <a:solidFill>
                <a:srgbClr val="4F403F"/>
              </a:solidFill>
            </a:endParaRPr>
          </a:p>
        </p:txBody>
      </p:sp>
      <p:sp>
        <p:nvSpPr>
          <p:cNvPr id="22" name="내용 개체 틀 2">
            <a:extLst>
              <a:ext uri="{FF2B5EF4-FFF2-40B4-BE49-F238E27FC236}">
                <a16:creationId xmlns:a16="http://schemas.microsoft.com/office/drawing/2014/main" id="{863FBB8A-E68E-45A3-9986-AAC406AF1D8F}"/>
              </a:ext>
            </a:extLst>
          </p:cNvPr>
          <p:cNvSpPr>
            <a:spLocks noGrp="1"/>
          </p:cNvSpPr>
          <p:nvPr>
            <p:ph sz="quarter" idx="1"/>
          </p:nvPr>
        </p:nvSpPr>
        <p:spPr>
          <a:xfrm>
            <a:off x="1626947" y="1066451"/>
            <a:ext cx="7658256" cy="5210249"/>
          </a:xfrm>
        </p:spPr>
        <p:txBody>
          <a:bodyPr>
            <a:noAutofit/>
          </a:bodyPr>
          <a:lstStyle/>
          <a:p>
            <a:pPr marL="0" indent="0">
              <a:lnSpc>
                <a:spcPct val="120000"/>
              </a:lnSpc>
              <a:buNone/>
              <a:defRPr/>
            </a:pPr>
            <a:endParaRPr lang="en-US" altLang="ko-KR" sz="100" b="1" i="1" dirty="0">
              <a:solidFill>
                <a:srgbClr val="64504F"/>
              </a:solidFill>
            </a:endParaRPr>
          </a:p>
          <a:p>
            <a:pPr>
              <a:lnSpc>
                <a:spcPct val="120000"/>
              </a:lnSpc>
              <a:defRPr/>
            </a:pPr>
            <a:r>
              <a:rPr lang="en-US" altLang="ko-KR" sz="1800" b="1" i="1" dirty="0">
                <a:solidFill>
                  <a:srgbClr val="64504F"/>
                </a:solidFill>
              </a:rPr>
              <a:t>Wireshark_TCP_v6.0</a:t>
            </a:r>
          </a:p>
          <a:p>
            <a:pPr lvl="1">
              <a:lnSpc>
                <a:spcPct val="120000"/>
              </a:lnSpc>
              <a:defRPr/>
            </a:pPr>
            <a:r>
              <a:rPr lang="en-US" altLang="ko-KR" sz="1600" b="1" i="1" dirty="0">
                <a:solidFill>
                  <a:srgbClr val="64504F"/>
                </a:solidFill>
              </a:rPr>
              <a:t>Section 4. TCP Congestion Control in action</a:t>
            </a:r>
          </a:p>
          <a:p>
            <a:pPr lvl="1">
              <a:lnSpc>
                <a:spcPct val="120000"/>
              </a:lnSpc>
              <a:defRPr/>
            </a:pPr>
            <a:r>
              <a:rPr lang="en-US" altLang="ko-KR" sz="1600" b="1" i="1" dirty="0">
                <a:solidFill>
                  <a:srgbClr val="64504F"/>
                </a:solidFill>
              </a:rPr>
              <a:t>Try to upload files with various sizes</a:t>
            </a:r>
          </a:p>
          <a:p>
            <a:pPr lvl="1">
              <a:lnSpc>
                <a:spcPct val="120000"/>
              </a:lnSpc>
              <a:defRPr/>
            </a:pPr>
            <a:r>
              <a:rPr lang="en-US" altLang="ko-KR" sz="1600" b="1" i="1" dirty="0">
                <a:solidFill>
                  <a:srgbClr val="64504F"/>
                </a:solidFill>
              </a:rPr>
              <a:t>Select a TCP segment in the Wireshark’s “listing of captured-packets” window. Then select the menu : Statistics-&gt;TCP Stream Graph-&gt; Time-Sequence-Graph(Stevens). </a:t>
            </a:r>
          </a:p>
          <a:p>
            <a:pPr lvl="1">
              <a:lnSpc>
                <a:spcPct val="120000"/>
              </a:lnSpc>
              <a:defRPr/>
            </a:pPr>
            <a:r>
              <a:rPr lang="en-US" altLang="ko-KR" sz="1600" b="1" i="1" dirty="0">
                <a:solidFill>
                  <a:srgbClr val="64504F"/>
                </a:solidFill>
              </a:rPr>
              <a:t>Problems 13~14</a:t>
            </a:r>
          </a:p>
          <a:p>
            <a:pPr lvl="2">
              <a:lnSpc>
                <a:spcPct val="120000"/>
              </a:lnSpc>
              <a:defRPr/>
            </a:pPr>
            <a:r>
              <a:rPr lang="en-US" altLang="ko-KR" sz="1600" b="1" i="1" dirty="0">
                <a:solidFill>
                  <a:srgbClr val="64504F"/>
                </a:solidFill>
              </a:rPr>
              <a:t>Use the Time-Sequence-Graph(Stevens) plotting tool to view the sequence number versus time plot of segments being sent from the client to the gaia.cs.umass.edu server.  </a:t>
            </a:r>
          </a:p>
          <a:p>
            <a:pPr lvl="3">
              <a:lnSpc>
                <a:spcPct val="120000"/>
              </a:lnSpc>
              <a:defRPr/>
            </a:pPr>
            <a:r>
              <a:rPr lang="en-US" altLang="ko-KR" sz="1200" b="1" i="1" dirty="0">
                <a:solidFill>
                  <a:srgbClr val="64504F"/>
                </a:solidFill>
              </a:rPr>
              <a:t>Can you identify where TCP’s </a:t>
            </a:r>
            <a:r>
              <a:rPr lang="en-US" altLang="ko-KR" sz="1200" b="1" i="1" dirty="0" err="1">
                <a:solidFill>
                  <a:srgbClr val="64504F"/>
                </a:solidFill>
              </a:rPr>
              <a:t>slowstart</a:t>
            </a:r>
            <a:r>
              <a:rPr lang="en-US" altLang="ko-KR" sz="1200" b="1" i="1" dirty="0">
                <a:solidFill>
                  <a:srgbClr val="64504F"/>
                </a:solidFill>
              </a:rPr>
              <a:t> phase begins and ends, and where congestion avoidance takes over?  Comment on ways in which the measured data differs from the idealized behavior of TCP that we’ve studied in the text. </a:t>
            </a:r>
            <a:endParaRPr lang="ko-KR" altLang="ko-KR" b="1" i="1" dirty="0">
              <a:solidFill>
                <a:srgbClr val="64504F"/>
              </a:solidFill>
            </a:endParaRPr>
          </a:p>
          <a:p>
            <a:pPr lvl="2">
              <a:lnSpc>
                <a:spcPct val="120000"/>
              </a:lnSpc>
              <a:defRPr/>
            </a:pPr>
            <a:r>
              <a:rPr lang="en-US" altLang="ko-KR" sz="1600" b="1" i="1" dirty="0">
                <a:solidFill>
                  <a:srgbClr val="64504F"/>
                </a:solidFill>
              </a:rPr>
              <a:t>Answer the questions above for the trace that you have gathered when you transferred a file from your computer to gaia.cs.umass.edu </a:t>
            </a:r>
            <a:endParaRPr lang="ko-KR" altLang="ko-KR" b="1" i="1" dirty="0">
              <a:solidFill>
                <a:srgbClr val="64504F"/>
              </a:solidFill>
            </a:endParaRPr>
          </a:p>
          <a:p>
            <a:pPr marL="0" indent="0">
              <a:lnSpc>
                <a:spcPct val="120000"/>
              </a:lnSpc>
              <a:buNone/>
              <a:defRPr/>
            </a:pPr>
            <a:endParaRPr lang="en-US" altLang="ko-KR" sz="1100" b="1" i="1" dirty="0">
              <a:solidFill>
                <a:srgbClr val="64504F"/>
              </a:solidFill>
            </a:endParaRPr>
          </a:p>
          <a:p>
            <a:pPr marL="0" indent="0">
              <a:lnSpc>
                <a:spcPct val="120000"/>
              </a:lnSpc>
              <a:buNone/>
              <a:defRPr/>
            </a:pPr>
            <a:endParaRPr lang="en-US" altLang="ko-KR" sz="1100" b="1" i="1" dirty="0">
              <a:solidFill>
                <a:srgbClr val="64504F"/>
              </a:solidFill>
            </a:endParaRPr>
          </a:p>
          <a:p>
            <a:pPr marL="0" indent="0">
              <a:lnSpc>
                <a:spcPct val="120000"/>
              </a:lnSpc>
              <a:buNone/>
              <a:defRPr/>
            </a:pPr>
            <a:endParaRPr lang="en-US" altLang="ko-KR" sz="1100" b="1" i="1" dirty="0">
              <a:solidFill>
                <a:srgbClr val="64504F"/>
              </a:solidFill>
            </a:endParaRP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F4CD42"/>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3211218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sp>
        <p:nvSpPr>
          <p:cNvPr id="9" name="직사각형 8"/>
          <p:cNvSpPr/>
          <p:nvPr/>
        </p:nvSpPr>
        <p:spPr>
          <a:xfrm rot="5400000">
            <a:off x="419473" y="1531607"/>
            <a:ext cx="829458" cy="523220"/>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2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F4CD42"/>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4" name="내용 개체 틀 3">
            <a:extLst>
              <a:ext uri="{FF2B5EF4-FFF2-40B4-BE49-F238E27FC236}">
                <a16:creationId xmlns:a16="http://schemas.microsoft.com/office/drawing/2014/main" id="{797DCEF5-FA37-454E-B82F-75056C4DF547}"/>
              </a:ext>
            </a:extLst>
          </p:cNvPr>
          <p:cNvSpPr>
            <a:spLocks noGrp="1"/>
          </p:cNvSpPr>
          <p:nvPr>
            <p:ph idx="1"/>
          </p:nvPr>
        </p:nvSpPr>
        <p:spPr>
          <a:xfrm>
            <a:off x="3657369" y="2970193"/>
            <a:ext cx="6181955" cy="736320"/>
          </a:xfrm>
        </p:spPr>
        <p:txBody>
          <a:bodyPr>
            <a:normAutofit fontScale="92500"/>
          </a:bodyPr>
          <a:lstStyle/>
          <a:p>
            <a:r>
              <a:rPr lang="en-US" altLang="ko-KR" sz="3200" b="1" i="1" dirty="0">
                <a:solidFill>
                  <a:srgbClr val="64504F"/>
                </a:solidFill>
              </a:rPr>
              <a:t>Lab 05 :TCP</a:t>
            </a:r>
            <a:r>
              <a:rPr lang="ko-KR" altLang="en-US" sz="3200" b="1" i="1" dirty="0">
                <a:solidFill>
                  <a:srgbClr val="64504F"/>
                </a:solidFill>
              </a:rPr>
              <a:t> </a:t>
            </a:r>
            <a:r>
              <a:rPr lang="en-US" altLang="ko-KR" sz="3200" b="1" i="1" dirty="0">
                <a:solidFill>
                  <a:srgbClr val="64504F"/>
                </a:solidFill>
              </a:rPr>
              <a:t>Congestion</a:t>
            </a:r>
            <a:r>
              <a:rPr lang="ko-KR" altLang="en-US" sz="3200" b="1" i="1" dirty="0">
                <a:solidFill>
                  <a:srgbClr val="64504F"/>
                </a:solidFill>
              </a:rPr>
              <a:t> </a:t>
            </a:r>
            <a:r>
              <a:rPr lang="en-US" altLang="ko-KR" sz="3200" b="1" i="1" dirty="0">
                <a:solidFill>
                  <a:srgbClr val="64504F"/>
                </a:solidFill>
              </a:rPr>
              <a:t>control</a:t>
            </a:r>
            <a:endParaRPr lang="ko-KR" altLang="en-US" sz="3200" dirty="0">
              <a:solidFill>
                <a:srgbClr val="4F403F"/>
              </a:solidFill>
            </a:endParaRPr>
          </a:p>
        </p:txBody>
      </p:sp>
    </p:spTree>
    <p:extLst>
      <p:ext uri="{BB962C8B-B14F-4D97-AF65-F5344CB8AC3E}">
        <p14:creationId xmlns:p14="http://schemas.microsoft.com/office/powerpoint/2010/main" val="906963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marR="0" lvl="0" indent="-285750" algn="l"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Can you identify where TCP’s </a:t>
            </a:r>
            <a:r>
              <a:rPr kumimoji="0" lang="en-US" altLang="ko-KR" sz="1600" b="1" i="1" u="none" strike="noStrike" kern="1200" cap="none" spc="0" normalizeH="0" baseline="0" noProof="0" dirty="0" err="1">
                <a:ln>
                  <a:noFill/>
                </a:ln>
                <a:solidFill>
                  <a:srgbClr val="4F403F"/>
                </a:solidFill>
                <a:effectLst/>
                <a:uLnTx/>
                <a:uFillTx/>
                <a:latin typeface="맑은 고딕" panose="020F0502020204030204"/>
                <a:ea typeface="맑은 고딕" panose="020B0503020000020004" pitchFamily="50" charset="-127"/>
                <a:cs typeface="+mn-cs"/>
              </a:rPr>
              <a:t>slowstart</a:t>
            </a: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 phase begins and ends, and where congestion avoidance takes over?  </a:t>
            </a:r>
            <a:endParaRPr kumimoji="0" lang="ko-KR" altLang="ko-KR" sz="11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9" name="직사각형 18">
            <a:extLst>
              <a:ext uri="{FF2B5EF4-FFF2-40B4-BE49-F238E27FC236}">
                <a16:creationId xmlns:a16="http://schemas.microsoft.com/office/drawing/2014/main" id="{E1E915FB-CB88-4ECB-9B26-235BC64CE150}"/>
              </a:ext>
            </a:extLst>
          </p:cNvPr>
          <p:cNvSpPr/>
          <p:nvPr/>
        </p:nvSpPr>
        <p:spPr>
          <a:xfrm>
            <a:off x="2087346" y="5886723"/>
            <a:ext cx="9043232" cy="454292"/>
          </a:xfrm>
          <a:prstGeom prst="rect">
            <a:avLst/>
          </a:prstGeom>
        </p:spPr>
        <p:txBody>
          <a:bodyPr wrap="square">
            <a:spAutoFit/>
          </a:bodyPr>
          <a:lstStyle/>
          <a:p>
            <a:pPr marL="285750" indent="-285750">
              <a:lnSpc>
                <a:spcPct val="150000"/>
              </a:lnSpc>
              <a:buFont typeface="Wingdings" panose="05000000000000000000" pitchFamily="2" charset="2"/>
              <a:buChar char="à"/>
            </a:pPr>
            <a:r>
              <a:rPr lang="ko-KR" altLang="en-US" b="1" dirty="0">
                <a:solidFill>
                  <a:srgbClr val="576067"/>
                </a:solidFill>
              </a:rPr>
              <a:t>다음은 </a:t>
            </a:r>
            <a:r>
              <a:rPr lang="en-US" altLang="ko-KR" b="1" dirty="0">
                <a:solidFill>
                  <a:srgbClr val="576067"/>
                </a:solidFill>
              </a:rPr>
              <a:t>Time Sequence(Stevens) </a:t>
            </a:r>
            <a:r>
              <a:rPr lang="ko-KR" altLang="en-US" b="1" dirty="0">
                <a:solidFill>
                  <a:srgbClr val="576067"/>
                </a:solidFill>
              </a:rPr>
              <a:t>그래프이다</a:t>
            </a:r>
            <a:r>
              <a:rPr lang="en-US" altLang="ko-KR" b="1" dirty="0">
                <a:solidFill>
                  <a:srgbClr val="576067"/>
                </a:solidFill>
              </a:rPr>
              <a:t>.</a:t>
            </a:r>
          </a:p>
        </p:txBody>
      </p:sp>
      <p:pic>
        <p:nvPicPr>
          <p:cNvPr id="7" name="그림 6">
            <a:extLst>
              <a:ext uri="{FF2B5EF4-FFF2-40B4-BE49-F238E27FC236}">
                <a16:creationId xmlns:a16="http://schemas.microsoft.com/office/drawing/2014/main" id="{C303A154-B709-402B-BD19-45120E295B40}"/>
              </a:ext>
            </a:extLst>
          </p:cNvPr>
          <p:cNvPicPr>
            <a:picLocks noChangeAspect="1"/>
          </p:cNvPicPr>
          <p:nvPr/>
        </p:nvPicPr>
        <p:blipFill>
          <a:blip r:embed="rId2"/>
          <a:stretch>
            <a:fillRect/>
          </a:stretch>
        </p:blipFill>
        <p:spPr>
          <a:xfrm>
            <a:off x="2116938" y="1684423"/>
            <a:ext cx="9282528" cy="4337840"/>
          </a:xfrm>
          <a:prstGeom prst="rect">
            <a:avLst/>
          </a:prstGeom>
        </p:spPr>
      </p:pic>
      <p:sp>
        <p:nvSpPr>
          <p:cNvPr id="9" name="타원 8">
            <a:extLst>
              <a:ext uri="{FF2B5EF4-FFF2-40B4-BE49-F238E27FC236}">
                <a16:creationId xmlns:a16="http://schemas.microsoft.com/office/drawing/2014/main" id="{E4DA16C9-3EAC-4068-8392-A67E139B6D9D}"/>
              </a:ext>
            </a:extLst>
          </p:cNvPr>
          <p:cNvSpPr/>
          <p:nvPr/>
        </p:nvSpPr>
        <p:spPr>
          <a:xfrm>
            <a:off x="3248025" y="5253107"/>
            <a:ext cx="552450" cy="45429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5491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indent="-285750">
              <a:lnSpc>
                <a:spcPct val="120000"/>
              </a:lnSpc>
              <a:buFont typeface="Arial" panose="020B0604020202020204" pitchFamily="34" charset="0"/>
              <a:buChar char="•"/>
              <a:defRPr/>
            </a:pPr>
            <a:r>
              <a:rPr lang="en-US" altLang="ko-KR" sz="1600" b="1" i="1" dirty="0">
                <a:solidFill>
                  <a:srgbClr val="4F403F"/>
                </a:solidFill>
              </a:rPr>
              <a:t>Can you identify where TCP’s </a:t>
            </a:r>
            <a:r>
              <a:rPr lang="en-US" altLang="ko-KR" sz="1600" b="1" i="1" dirty="0" err="1">
                <a:solidFill>
                  <a:srgbClr val="4F403F"/>
                </a:solidFill>
              </a:rPr>
              <a:t>slowstart</a:t>
            </a:r>
            <a:r>
              <a:rPr lang="en-US" altLang="ko-KR" sz="1600" b="1" i="1" dirty="0">
                <a:solidFill>
                  <a:srgbClr val="4F403F"/>
                </a:solidFill>
              </a:rPr>
              <a:t> phase begins and ends, and where congestion avoidance takes over?  </a:t>
            </a:r>
            <a:endParaRPr lang="ko-KR" altLang="ko-KR" sz="1100" b="1" i="1" dirty="0">
              <a:solidFill>
                <a:srgbClr val="4F403F"/>
              </a:solidFill>
            </a:endParaRPr>
          </a:p>
        </p:txBody>
      </p:sp>
      <p:pic>
        <p:nvPicPr>
          <p:cNvPr id="16" name="그림 15">
            <a:extLst>
              <a:ext uri="{FF2B5EF4-FFF2-40B4-BE49-F238E27FC236}">
                <a16:creationId xmlns:a16="http://schemas.microsoft.com/office/drawing/2014/main" id="{514D61AE-B9A1-45CA-B240-C8E03DA50359}"/>
              </a:ext>
            </a:extLst>
          </p:cNvPr>
          <p:cNvPicPr>
            <a:picLocks noChangeAspect="1"/>
          </p:cNvPicPr>
          <p:nvPr/>
        </p:nvPicPr>
        <p:blipFill rotWithShape="1">
          <a:blip r:embed="rId2"/>
          <a:srcRect l="18046" t="15765" r="18516" b="29027"/>
          <a:stretch/>
        </p:blipFill>
        <p:spPr>
          <a:xfrm>
            <a:off x="2135776" y="1758287"/>
            <a:ext cx="8773703" cy="4294944"/>
          </a:xfrm>
          <a:prstGeom prst="rect">
            <a:avLst/>
          </a:prstGeom>
        </p:spPr>
      </p:pic>
      <p:sp>
        <p:nvSpPr>
          <p:cNvPr id="19" name="직사각형 18">
            <a:extLst>
              <a:ext uri="{FF2B5EF4-FFF2-40B4-BE49-F238E27FC236}">
                <a16:creationId xmlns:a16="http://schemas.microsoft.com/office/drawing/2014/main" id="{16DBA181-1A70-4DBE-A7FE-292D7F839529}"/>
              </a:ext>
            </a:extLst>
          </p:cNvPr>
          <p:cNvSpPr/>
          <p:nvPr/>
        </p:nvSpPr>
        <p:spPr>
          <a:xfrm>
            <a:off x="2087346" y="5871928"/>
            <a:ext cx="9043232" cy="454292"/>
          </a:xfrm>
          <a:prstGeom prst="rect">
            <a:avLst/>
          </a:prstGeom>
        </p:spPr>
        <p:txBody>
          <a:bodyPr wrap="square">
            <a:spAutoFit/>
          </a:bodyPr>
          <a:lstStyle/>
          <a:p>
            <a:pPr marL="285750" indent="-285750">
              <a:lnSpc>
                <a:spcPct val="150000"/>
              </a:lnSpc>
              <a:buFont typeface="Wingdings" panose="05000000000000000000" pitchFamily="2" charset="2"/>
              <a:buChar char="à"/>
            </a:pPr>
            <a:r>
              <a:rPr lang="ko-KR" altLang="en-US" b="1" dirty="0">
                <a:solidFill>
                  <a:srgbClr val="576067"/>
                </a:solidFill>
              </a:rPr>
              <a:t>다음은 </a:t>
            </a:r>
            <a:r>
              <a:rPr lang="en-US" altLang="ko-KR" b="1" dirty="0">
                <a:solidFill>
                  <a:srgbClr val="576067"/>
                </a:solidFill>
              </a:rPr>
              <a:t>Window Scaling </a:t>
            </a:r>
            <a:r>
              <a:rPr lang="ko-KR" altLang="en-US" b="1" dirty="0">
                <a:solidFill>
                  <a:srgbClr val="576067"/>
                </a:solidFill>
              </a:rPr>
              <a:t>그래프이다</a:t>
            </a:r>
            <a:r>
              <a:rPr lang="en-US" altLang="ko-KR" b="1" dirty="0">
                <a:solidFill>
                  <a:srgbClr val="576067"/>
                </a:solidFill>
              </a:rPr>
              <a:t>.</a:t>
            </a:r>
          </a:p>
        </p:txBody>
      </p:sp>
      <p:sp>
        <p:nvSpPr>
          <p:cNvPr id="21" name="타원 20">
            <a:extLst>
              <a:ext uri="{FF2B5EF4-FFF2-40B4-BE49-F238E27FC236}">
                <a16:creationId xmlns:a16="http://schemas.microsoft.com/office/drawing/2014/main" id="{2B067783-1F23-417B-9933-6F34336198A1}"/>
              </a:ext>
            </a:extLst>
          </p:cNvPr>
          <p:cNvSpPr/>
          <p:nvPr/>
        </p:nvSpPr>
        <p:spPr>
          <a:xfrm>
            <a:off x="3076074" y="4335263"/>
            <a:ext cx="552450" cy="45429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23710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marR="0" lvl="0" indent="-285750" algn="l"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Can you identify where TCP’s </a:t>
            </a:r>
            <a:r>
              <a:rPr kumimoji="0" lang="en-US" altLang="ko-KR" sz="1600" b="1" i="1" u="none" strike="noStrike" kern="1200" cap="none" spc="0" normalizeH="0" baseline="0" noProof="0" dirty="0" err="1">
                <a:ln>
                  <a:noFill/>
                </a:ln>
                <a:solidFill>
                  <a:srgbClr val="4F403F"/>
                </a:solidFill>
                <a:effectLst/>
                <a:uLnTx/>
                <a:uFillTx/>
                <a:latin typeface="맑은 고딕" panose="020F0502020204030204"/>
                <a:ea typeface="맑은 고딕" panose="020B0503020000020004" pitchFamily="50" charset="-127"/>
                <a:cs typeface="+mn-cs"/>
              </a:rPr>
              <a:t>slowstart</a:t>
            </a: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 phase begins and ends, and where congestion avoidance takes over?  </a:t>
            </a:r>
            <a:endParaRPr kumimoji="0" lang="ko-KR" altLang="ko-KR" sz="11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9" name="직사각형 18">
            <a:extLst>
              <a:ext uri="{FF2B5EF4-FFF2-40B4-BE49-F238E27FC236}">
                <a16:creationId xmlns:a16="http://schemas.microsoft.com/office/drawing/2014/main" id="{86943157-67B9-4266-AB75-E6B318DD6BAC}"/>
              </a:ext>
            </a:extLst>
          </p:cNvPr>
          <p:cNvSpPr/>
          <p:nvPr/>
        </p:nvSpPr>
        <p:spPr>
          <a:xfrm>
            <a:off x="5559454" y="1829763"/>
            <a:ext cx="5645123" cy="3778278"/>
          </a:xfrm>
          <a:prstGeom prst="rect">
            <a:avLst/>
          </a:prstGeom>
        </p:spPr>
        <p:txBody>
          <a:bodyPr wrap="square">
            <a:spAutoFit/>
          </a:bodyPr>
          <a:lstStyle/>
          <a:p>
            <a:pPr marL="285750" indent="-285750">
              <a:lnSpc>
                <a:spcPct val="150000"/>
              </a:lnSpc>
              <a:buFont typeface="Wingdings" panose="05000000000000000000" pitchFamily="2" charset="2"/>
              <a:buChar char="à"/>
            </a:pPr>
            <a:r>
              <a:rPr lang="ko-KR" altLang="en-US" b="1" dirty="0">
                <a:solidFill>
                  <a:srgbClr val="576067"/>
                </a:solidFill>
              </a:rPr>
              <a:t>다음은 </a:t>
            </a:r>
            <a:r>
              <a:rPr lang="en-US" altLang="ko-KR" b="1" dirty="0">
                <a:solidFill>
                  <a:srgbClr val="576067"/>
                </a:solidFill>
              </a:rPr>
              <a:t>Time Sequence(Stevens) </a:t>
            </a:r>
            <a:r>
              <a:rPr lang="ko-KR" altLang="en-US" b="1" dirty="0">
                <a:solidFill>
                  <a:srgbClr val="576067"/>
                </a:solidFill>
              </a:rPr>
              <a:t>그래프를 </a:t>
            </a:r>
            <a:endParaRPr lang="en-US" altLang="ko-KR" b="1" dirty="0">
              <a:solidFill>
                <a:srgbClr val="576067"/>
              </a:solidFill>
            </a:endParaRPr>
          </a:p>
          <a:p>
            <a:pPr>
              <a:lnSpc>
                <a:spcPct val="150000"/>
              </a:lnSpc>
            </a:pPr>
            <a:r>
              <a:rPr lang="ko-KR" altLang="en-US" b="1" dirty="0">
                <a:solidFill>
                  <a:srgbClr val="576067"/>
                </a:solidFill>
              </a:rPr>
              <a:t>   확대한 것이다</a:t>
            </a:r>
            <a:r>
              <a:rPr lang="en-US" altLang="ko-KR" b="1" dirty="0">
                <a:solidFill>
                  <a:srgbClr val="576067"/>
                </a:solidFill>
              </a:rPr>
              <a:t>.</a:t>
            </a:r>
          </a:p>
          <a:p>
            <a:pPr marL="285750" indent="-285750">
              <a:lnSpc>
                <a:spcPct val="150000"/>
              </a:lnSpc>
              <a:buFont typeface="Wingdings" panose="05000000000000000000" pitchFamily="2" charset="2"/>
              <a:buChar char="à"/>
            </a:pPr>
            <a:r>
              <a:rPr lang="ko-KR" altLang="en-US" b="1" dirty="0">
                <a:solidFill>
                  <a:srgbClr val="576067"/>
                </a:solidFill>
              </a:rPr>
              <a:t>이 그래프에서 약 </a:t>
            </a:r>
            <a:r>
              <a:rPr lang="en-US" altLang="ko-KR" b="1" dirty="0">
                <a:solidFill>
                  <a:srgbClr val="576067"/>
                </a:solidFill>
              </a:rPr>
              <a:t>0.0</a:t>
            </a:r>
            <a:r>
              <a:rPr lang="ko-KR" altLang="en-US" b="1" dirty="0">
                <a:solidFill>
                  <a:srgbClr val="576067"/>
                </a:solidFill>
              </a:rPr>
              <a:t>초에서 약 </a:t>
            </a:r>
            <a:r>
              <a:rPr lang="en-US" altLang="ko-KR" b="1" dirty="0">
                <a:solidFill>
                  <a:srgbClr val="576067"/>
                </a:solidFill>
              </a:rPr>
              <a:t>2.5</a:t>
            </a:r>
            <a:r>
              <a:rPr lang="ko-KR" altLang="en-US" b="1" dirty="0">
                <a:solidFill>
                  <a:srgbClr val="576067"/>
                </a:solidFill>
              </a:rPr>
              <a:t>초 정도까지 </a:t>
            </a:r>
            <a:r>
              <a:rPr lang="en-US" altLang="ko-KR" b="1" dirty="0">
                <a:solidFill>
                  <a:srgbClr val="576067"/>
                </a:solidFill>
              </a:rPr>
              <a:t>Sequence Number</a:t>
            </a:r>
            <a:r>
              <a:rPr lang="ko-KR" altLang="en-US" b="1" dirty="0">
                <a:solidFill>
                  <a:srgbClr val="576067"/>
                </a:solidFill>
              </a:rPr>
              <a:t>가 증가하다가</a:t>
            </a:r>
            <a:r>
              <a:rPr lang="en-US" altLang="ko-KR" b="1" dirty="0">
                <a:solidFill>
                  <a:srgbClr val="576067"/>
                </a:solidFill>
              </a:rPr>
              <a:t>, </a:t>
            </a:r>
            <a:r>
              <a:rPr lang="ko-KR" altLang="en-US" b="1" dirty="0">
                <a:solidFill>
                  <a:schemeClr val="accent5"/>
                </a:solidFill>
              </a:rPr>
              <a:t>약 </a:t>
            </a:r>
            <a:r>
              <a:rPr lang="en-US" altLang="ko-KR" b="1" dirty="0">
                <a:solidFill>
                  <a:schemeClr val="accent5"/>
                </a:solidFill>
              </a:rPr>
              <a:t>2.5</a:t>
            </a:r>
            <a:r>
              <a:rPr lang="ko-KR" altLang="en-US" b="1" dirty="0">
                <a:solidFill>
                  <a:schemeClr val="accent5"/>
                </a:solidFill>
              </a:rPr>
              <a:t>초 정도</a:t>
            </a:r>
            <a:r>
              <a:rPr lang="ko-KR" altLang="en-US" b="1" dirty="0">
                <a:solidFill>
                  <a:srgbClr val="576067"/>
                </a:solidFill>
              </a:rPr>
              <a:t>에서 </a:t>
            </a:r>
            <a:r>
              <a:rPr lang="en-US" altLang="ko-KR" b="1" dirty="0">
                <a:solidFill>
                  <a:srgbClr val="576067"/>
                </a:solidFill>
              </a:rPr>
              <a:t>Sequence Number</a:t>
            </a:r>
            <a:r>
              <a:rPr lang="ko-KR" altLang="en-US" b="1" dirty="0">
                <a:solidFill>
                  <a:srgbClr val="576067"/>
                </a:solidFill>
              </a:rPr>
              <a:t>가 줄어드는 것을 확인할 수 있다</a:t>
            </a:r>
            <a:r>
              <a:rPr lang="en-US" altLang="ko-KR" b="1" dirty="0">
                <a:solidFill>
                  <a:srgbClr val="576067"/>
                </a:solidFill>
              </a:rPr>
              <a:t>.</a:t>
            </a:r>
          </a:p>
          <a:p>
            <a:pPr marL="285750" indent="-285750">
              <a:lnSpc>
                <a:spcPct val="150000"/>
              </a:lnSpc>
              <a:buFont typeface="Wingdings" panose="05000000000000000000" pitchFamily="2" charset="2"/>
              <a:buChar char="à"/>
            </a:pPr>
            <a:r>
              <a:rPr lang="ko-KR" altLang="en-US" b="1" dirty="0">
                <a:solidFill>
                  <a:schemeClr val="accent5"/>
                </a:solidFill>
              </a:rPr>
              <a:t>약 </a:t>
            </a:r>
            <a:r>
              <a:rPr lang="en-US" altLang="ko-KR" b="1" dirty="0">
                <a:solidFill>
                  <a:schemeClr val="accent5"/>
                </a:solidFill>
              </a:rPr>
              <a:t>2.5</a:t>
            </a:r>
            <a:r>
              <a:rPr lang="ko-KR" altLang="en-US" b="1" dirty="0">
                <a:solidFill>
                  <a:schemeClr val="accent5"/>
                </a:solidFill>
              </a:rPr>
              <a:t>초 </a:t>
            </a:r>
            <a:r>
              <a:rPr lang="ko-KR" altLang="en-US" b="1" dirty="0">
                <a:solidFill>
                  <a:srgbClr val="576067"/>
                </a:solidFill>
              </a:rPr>
              <a:t>정도에서 떨어지는 부분을 클릭하면 다음과 같은 </a:t>
            </a:r>
            <a:r>
              <a:rPr lang="en-US" altLang="ko-KR" b="1" dirty="0">
                <a:solidFill>
                  <a:schemeClr val="accent5"/>
                </a:solidFill>
              </a:rPr>
              <a:t>[TCP Fast Retransmission]</a:t>
            </a:r>
            <a:r>
              <a:rPr lang="ko-KR" altLang="en-US" b="1" dirty="0">
                <a:solidFill>
                  <a:schemeClr val="accent5"/>
                </a:solidFill>
              </a:rPr>
              <a:t>이 발생</a:t>
            </a:r>
            <a:r>
              <a:rPr lang="ko-KR" altLang="en-US" b="1" dirty="0">
                <a:solidFill>
                  <a:srgbClr val="576067"/>
                </a:solidFill>
              </a:rPr>
              <a:t>한 것을 알 수 있다</a:t>
            </a:r>
            <a:r>
              <a:rPr lang="en-US" altLang="ko-KR" b="1" dirty="0">
                <a:solidFill>
                  <a:srgbClr val="576067"/>
                </a:solidFill>
              </a:rPr>
              <a:t>.</a:t>
            </a:r>
          </a:p>
        </p:txBody>
      </p:sp>
      <p:grpSp>
        <p:nvGrpSpPr>
          <p:cNvPr id="4" name="그룹 3">
            <a:extLst>
              <a:ext uri="{FF2B5EF4-FFF2-40B4-BE49-F238E27FC236}">
                <a16:creationId xmlns:a16="http://schemas.microsoft.com/office/drawing/2014/main" id="{8EE509A1-7115-4556-933F-01B3C355151C}"/>
              </a:ext>
            </a:extLst>
          </p:cNvPr>
          <p:cNvGrpSpPr/>
          <p:nvPr/>
        </p:nvGrpSpPr>
        <p:grpSpPr>
          <a:xfrm>
            <a:off x="1634854" y="1727946"/>
            <a:ext cx="3817241" cy="4231347"/>
            <a:chOff x="1987990" y="1726038"/>
            <a:chExt cx="3817241" cy="4231347"/>
          </a:xfrm>
        </p:grpSpPr>
        <p:pic>
          <p:nvPicPr>
            <p:cNvPr id="3" name="그림 2">
              <a:extLst>
                <a:ext uri="{FF2B5EF4-FFF2-40B4-BE49-F238E27FC236}">
                  <a16:creationId xmlns:a16="http://schemas.microsoft.com/office/drawing/2014/main" id="{B68BB885-6373-4EAB-83B7-62836CD409C4}"/>
                </a:ext>
              </a:extLst>
            </p:cNvPr>
            <p:cNvPicPr>
              <a:picLocks noChangeAspect="1"/>
            </p:cNvPicPr>
            <p:nvPr/>
          </p:nvPicPr>
          <p:blipFill rotWithShape="1">
            <a:blip r:embed="rId2"/>
            <a:srcRect r="57344"/>
            <a:stretch/>
          </p:blipFill>
          <p:spPr>
            <a:xfrm>
              <a:off x="1987990" y="1726038"/>
              <a:ext cx="3817241" cy="4231347"/>
            </a:xfrm>
            <a:prstGeom prst="rect">
              <a:avLst/>
            </a:prstGeom>
          </p:spPr>
        </p:pic>
        <p:sp>
          <p:nvSpPr>
            <p:cNvPr id="21" name="타원 20">
              <a:extLst>
                <a:ext uri="{FF2B5EF4-FFF2-40B4-BE49-F238E27FC236}">
                  <a16:creationId xmlns:a16="http://schemas.microsoft.com/office/drawing/2014/main" id="{F9CB7AA1-8B45-40B1-8C05-B2D0D950A982}"/>
                </a:ext>
              </a:extLst>
            </p:cNvPr>
            <p:cNvSpPr/>
            <p:nvPr/>
          </p:nvSpPr>
          <p:spPr>
            <a:xfrm>
              <a:off x="3305175" y="3788789"/>
              <a:ext cx="2134585" cy="17143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7" name="그림 6">
            <a:extLst>
              <a:ext uri="{FF2B5EF4-FFF2-40B4-BE49-F238E27FC236}">
                <a16:creationId xmlns:a16="http://schemas.microsoft.com/office/drawing/2014/main" id="{A9DD7CCC-52B4-4B46-B966-3155F14F87F8}"/>
              </a:ext>
            </a:extLst>
          </p:cNvPr>
          <p:cNvPicPr>
            <a:picLocks noChangeAspect="1"/>
          </p:cNvPicPr>
          <p:nvPr/>
        </p:nvPicPr>
        <p:blipFill rotWithShape="1">
          <a:blip r:embed="rId3"/>
          <a:srcRect l="3045" t="42083" r="4558" b="55275"/>
          <a:stretch/>
        </p:blipFill>
        <p:spPr>
          <a:xfrm>
            <a:off x="1495425" y="5876925"/>
            <a:ext cx="9944099" cy="457200"/>
          </a:xfrm>
          <a:prstGeom prst="rect">
            <a:avLst/>
          </a:prstGeom>
        </p:spPr>
      </p:pic>
    </p:spTree>
    <p:extLst>
      <p:ext uri="{BB962C8B-B14F-4D97-AF65-F5344CB8AC3E}">
        <p14:creationId xmlns:p14="http://schemas.microsoft.com/office/powerpoint/2010/main" val="402447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78554" y="249843"/>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marR="0" lvl="0" indent="-285750" algn="l"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Can you identify where TCP’s </a:t>
            </a:r>
            <a:r>
              <a:rPr kumimoji="0" lang="en-US" altLang="ko-KR" sz="1600" b="1" i="1" u="none" strike="noStrike" kern="1200" cap="none" spc="0" normalizeH="0" baseline="0" noProof="0" dirty="0" err="1">
                <a:ln>
                  <a:noFill/>
                </a:ln>
                <a:solidFill>
                  <a:srgbClr val="4F403F"/>
                </a:solidFill>
                <a:effectLst/>
                <a:uLnTx/>
                <a:uFillTx/>
                <a:latin typeface="맑은 고딕" panose="020F0502020204030204"/>
                <a:ea typeface="맑은 고딕" panose="020B0503020000020004" pitchFamily="50" charset="-127"/>
                <a:cs typeface="+mn-cs"/>
              </a:rPr>
              <a:t>slowstart</a:t>
            </a: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 phase begins and ends, and where congestion avoidance takes over?  </a:t>
            </a:r>
            <a:endParaRPr kumimoji="0" lang="ko-KR" altLang="ko-KR" sz="11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9" name="직사각형 18">
            <a:extLst>
              <a:ext uri="{FF2B5EF4-FFF2-40B4-BE49-F238E27FC236}">
                <a16:creationId xmlns:a16="http://schemas.microsoft.com/office/drawing/2014/main" id="{16DBA181-1A70-4DBE-A7FE-292D7F839529}"/>
              </a:ext>
            </a:extLst>
          </p:cNvPr>
          <p:cNvSpPr/>
          <p:nvPr/>
        </p:nvSpPr>
        <p:spPr>
          <a:xfrm>
            <a:off x="5923548" y="2970429"/>
            <a:ext cx="5704227" cy="2116285"/>
          </a:xfrm>
          <a:prstGeom prst="rect">
            <a:avLst/>
          </a:prstGeom>
        </p:spPr>
        <p:txBody>
          <a:bodyPr wrap="square">
            <a:spAutoFit/>
          </a:bodyPr>
          <a:lstStyle/>
          <a:p>
            <a:pPr marL="285750" marR="0" lvl="0" indent="-285750" algn="l" defTabSz="914400" rtl="0" eaLnBrk="1" fontAlgn="auto" latinLnBrk="1" hangingPunct="1">
              <a:lnSpc>
                <a:spcPct val="150000"/>
              </a:lnSpc>
              <a:spcBef>
                <a:spcPts val="0"/>
              </a:spcBef>
              <a:spcAft>
                <a:spcPts val="0"/>
              </a:spcAft>
              <a:buClrTx/>
              <a:buSzTx/>
              <a:buFont typeface="Wingdings" panose="05000000000000000000" pitchFamily="2" charset="2"/>
              <a:buChar char="à"/>
              <a:tabLst/>
              <a:defRPr/>
            </a:pP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다음은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Window Scaling </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그래프를 확대한 것이다</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a:t>
            </a:r>
          </a:p>
          <a:p>
            <a:pPr marL="285750" marR="0" lvl="0" indent="-285750" algn="l" defTabSz="914400" rtl="0" eaLnBrk="1" fontAlgn="auto" latinLnBrk="1" hangingPunct="1">
              <a:lnSpc>
                <a:spcPct val="150000"/>
              </a:lnSpc>
              <a:spcBef>
                <a:spcPts val="0"/>
              </a:spcBef>
              <a:spcAft>
                <a:spcPts val="0"/>
              </a:spcAft>
              <a:buClrTx/>
              <a:buSzTx/>
              <a:buFont typeface="Wingdings" panose="05000000000000000000" pitchFamily="2" charset="2"/>
              <a:buChar char="à"/>
              <a:tabLst/>
              <a:defRPr/>
            </a:pP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이 그래프에서 약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0.0</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초부터 약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2.5</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초 정도까지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Window Size 2</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배로 증가하다가</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 </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rPr>
              <a:t>약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rPr>
              <a:t>2.5</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rPr>
              <a:t>초 정도</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에서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Window Size</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가 정체되다가 작아지는 것을 확인할 수 있다</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a:t>
            </a:r>
          </a:p>
        </p:txBody>
      </p:sp>
      <p:pic>
        <p:nvPicPr>
          <p:cNvPr id="3" name="그림 2">
            <a:extLst>
              <a:ext uri="{FF2B5EF4-FFF2-40B4-BE49-F238E27FC236}">
                <a16:creationId xmlns:a16="http://schemas.microsoft.com/office/drawing/2014/main" id="{0BCF9D9B-4D83-46B2-9D13-FDB3BD4FAC22}"/>
              </a:ext>
            </a:extLst>
          </p:cNvPr>
          <p:cNvPicPr>
            <a:picLocks noChangeAspect="1"/>
          </p:cNvPicPr>
          <p:nvPr/>
        </p:nvPicPr>
        <p:blipFill rotWithShape="1">
          <a:blip r:embed="rId2"/>
          <a:srcRect l="17249" t="16805" r="51549" b="32222"/>
          <a:stretch/>
        </p:blipFill>
        <p:spPr>
          <a:xfrm>
            <a:off x="1548656" y="1923315"/>
            <a:ext cx="4417864" cy="4059611"/>
          </a:xfrm>
          <a:prstGeom prst="rect">
            <a:avLst/>
          </a:prstGeom>
        </p:spPr>
      </p:pic>
      <p:sp>
        <p:nvSpPr>
          <p:cNvPr id="23" name="타원 22">
            <a:extLst>
              <a:ext uri="{FF2B5EF4-FFF2-40B4-BE49-F238E27FC236}">
                <a16:creationId xmlns:a16="http://schemas.microsoft.com/office/drawing/2014/main" id="{F085A5F9-0876-4DA7-973B-98BEDE793A9D}"/>
              </a:ext>
            </a:extLst>
          </p:cNvPr>
          <p:cNvSpPr/>
          <p:nvPr/>
        </p:nvSpPr>
        <p:spPr>
          <a:xfrm>
            <a:off x="4056321" y="2743283"/>
            <a:ext cx="552450" cy="45429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78379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indent="-285750">
              <a:lnSpc>
                <a:spcPct val="120000"/>
              </a:lnSpc>
              <a:buFont typeface="Arial" panose="020B0604020202020204" pitchFamily="34" charset="0"/>
              <a:buChar char="•"/>
              <a:defRPr/>
            </a:pPr>
            <a:r>
              <a:rPr lang="en-US" altLang="ko-KR" sz="1600" b="1" i="1" dirty="0">
                <a:solidFill>
                  <a:srgbClr val="4F403F"/>
                </a:solidFill>
              </a:rPr>
              <a:t>Can you identify where TCP’s </a:t>
            </a:r>
            <a:r>
              <a:rPr lang="en-US" altLang="ko-KR" sz="1600" b="1" i="1" dirty="0" err="1">
                <a:solidFill>
                  <a:srgbClr val="4F403F"/>
                </a:solidFill>
              </a:rPr>
              <a:t>slowstart</a:t>
            </a:r>
            <a:r>
              <a:rPr lang="en-US" altLang="ko-KR" sz="1600" b="1" i="1" dirty="0">
                <a:solidFill>
                  <a:srgbClr val="4F403F"/>
                </a:solidFill>
              </a:rPr>
              <a:t> phase begins and ends, and where congestion avoidance takes over?  </a:t>
            </a:r>
            <a:endParaRPr lang="ko-KR" altLang="ko-KR" sz="1100" b="1" i="1" dirty="0">
              <a:solidFill>
                <a:srgbClr val="4F403F"/>
              </a:solidFill>
            </a:endParaRPr>
          </a:p>
        </p:txBody>
      </p:sp>
      <p:sp>
        <p:nvSpPr>
          <p:cNvPr id="23" name="직사각형 22">
            <a:extLst>
              <a:ext uri="{FF2B5EF4-FFF2-40B4-BE49-F238E27FC236}">
                <a16:creationId xmlns:a16="http://schemas.microsoft.com/office/drawing/2014/main" id="{E8BC6913-582B-42CB-A579-A746A7278836}"/>
              </a:ext>
            </a:extLst>
          </p:cNvPr>
          <p:cNvSpPr/>
          <p:nvPr/>
        </p:nvSpPr>
        <p:spPr>
          <a:xfrm>
            <a:off x="1838698" y="1963724"/>
            <a:ext cx="9276583" cy="3882153"/>
          </a:xfrm>
          <a:prstGeom prst="rect">
            <a:avLst/>
          </a:prstGeom>
        </p:spPr>
        <p:txBody>
          <a:bodyPr wrap="square">
            <a:spAutoFit/>
          </a:bodyPr>
          <a:lstStyle/>
          <a:p>
            <a:pPr marL="285750" indent="-285750">
              <a:lnSpc>
                <a:spcPct val="200000"/>
              </a:lnSpc>
              <a:buFont typeface="Wingdings" panose="05000000000000000000" pitchFamily="2" charset="2"/>
              <a:buChar char="à"/>
            </a:pPr>
            <a:r>
              <a:rPr lang="ko-KR" altLang="en-US" b="1" dirty="0">
                <a:solidFill>
                  <a:srgbClr val="576067"/>
                </a:solidFill>
              </a:rPr>
              <a:t>다음 그래프</a:t>
            </a:r>
            <a:r>
              <a:rPr lang="en-US" altLang="ko-KR" b="1" dirty="0">
                <a:solidFill>
                  <a:srgbClr val="576067"/>
                </a:solidFill>
              </a:rPr>
              <a:t>(Time Sequence, Window Scaling)</a:t>
            </a:r>
            <a:r>
              <a:rPr lang="ko-KR" altLang="en-US" b="1" dirty="0">
                <a:solidFill>
                  <a:srgbClr val="576067"/>
                </a:solidFill>
              </a:rPr>
              <a:t>를 통해 이와 같은 사실을 알 수 있다</a:t>
            </a:r>
            <a:r>
              <a:rPr lang="en-US" altLang="ko-KR" b="1" dirty="0">
                <a:solidFill>
                  <a:srgbClr val="576067"/>
                </a:solidFill>
              </a:rPr>
              <a:t>.</a:t>
            </a:r>
          </a:p>
          <a:p>
            <a:pPr marL="285750" indent="-285750">
              <a:lnSpc>
                <a:spcPct val="200000"/>
              </a:lnSpc>
              <a:buFont typeface="Wingdings" panose="05000000000000000000" pitchFamily="2" charset="2"/>
              <a:buChar char="à"/>
            </a:pPr>
            <a:r>
              <a:rPr lang="en-US" altLang="ko-KR" b="1" dirty="0">
                <a:solidFill>
                  <a:srgbClr val="576067"/>
                </a:solidFill>
              </a:rPr>
              <a:t>TCP</a:t>
            </a:r>
            <a:r>
              <a:rPr lang="ko-KR" altLang="en-US" b="1" dirty="0">
                <a:solidFill>
                  <a:srgbClr val="576067"/>
                </a:solidFill>
              </a:rPr>
              <a:t>의 </a:t>
            </a:r>
            <a:r>
              <a:rPr lang="en-US" altLang="ko-KR" b="1" dirty="0" err="1">
                <a:solidFill>
                  <a:srgbClr val="576067"/>
                </a:solidFill>
              </a:rPr>
              <a:t>slowstart</a:t>
            </a:r>
            <a:r>
              <a:rPr lang="ko-KR" altLang="en-US" b="1" dirty="0">
                <a:solidFill>
                  <a:srgbClr val="576067"/>
                </a:solidFill>
              </a:rPr>
              <a:t>은 </a:t>
            </a:r>
            <a:r>
              <a:rPr lang="ko-KR" altLang="en-US" b="1" dirty="0">
                <a:solidFill>
                  <a:schemeClr val="accent5"/>
                </a:solidFill>
              </a:rPr>
              <a:t>약 </a:t>
            </a:r>
            <a:r>
              <a:rPr lang="en-US" altLang="ko-KR" b="1" dirty="0">
                <a:solidFill>
                  <a:schemeClr val="accent5"/>
                </a:solidFill>
              </a:rPr>
              <a:t>0.0</a:t>
            </a:r>
            <a:r>
              <a:rPr lang="ko-KR" altLang="en-US" b="1" dirty="0">
                <a:solidFill>
                  <a:schemeClr val="accent5"/>
                </a:solidFill>
              </a:rPr>
              <a:t>초</a:t>
            </a:r>
            <a:r>
              <a:rPr lang="ko-KR" altLang="en-US" b="1" dirty="0">
                <a:solidFill>
                  <a:srgbClr val="576067"/>
                </a:solidFill>
              </a:rPr>
              <a:t>에서 시작하여 </a:t>
            </a:r>
            <a:r>
              <a:rPr lang="ko-KR" altLang="en-US" b="1" dirty="0">
                <a:solidFill>
                  <a:schemeClr val="accent5"/>
                </a:solidFill>
              </a:rPr>
              <a:t>약 </a:t>
            </a:r>
            <a:r>
              <a:rPr lang="en-US" altLang="ko-KR" b="1" dirty="0">
                <a:solidFill>
                  <a:schemeClr val="accent5"/>
                </a:solidFill>
              </a:rPr>
              <a:t>2.5</a:t>
            </a:r>
            <a:r>
              <a:rPr lang="ko-KR" altLang="en-US" b="1" dirty="0">
                <a:solidFill>
                  <a:schemeClr val="accent5"/>
                </a:solidFill>
              </a:rPr>
              <a:t>초</a:t>
            </a:r>
            <a:r>
              <a:rPr lang="ko-KR" altLang="en-US" b="1" dirty="0">
                <a:solidFill>
                  <a:srgbClr val="576067"/>
                </a:solidFill>
              </a:rPr>
              <a:t>로 끝난다는 것으로 예상된다</a:t>
            </a:r>
            <a:r>
              <a:rPr lang="en-US" altLang="ko-KR" b="1" dirty="0">
                <a:solidFill>
                  <a:srgbClr val="576067"/>
                </a:solidFill>
              </a:rPr>
              <a:t>.</a:t>
            </a:r>
          </a:p>
          <a:p>
            <a:pPr marL="285750" indent="-285750">
              <a:lnSpc>
                <a:spcPct val="200000"/>
              </a:lnSpc>
              <a:buFont typeface="Wingdings" panose="05000000000000000000" pitchFamily="2" charset="2"/>
              <a:buChar char="à"/>
            </a:pPr>
            <a:r>
              <a:rPr lang="ko-KR" altLang="en-US" b="1" dirty="0">
                <a:solidFill>
                  <a:srgbClr val="576067"/>
                </a:solidFill>
              </a:rPr>
              <a:t>또한</a:t>
            </a:r>
            <a:r>
              <a:rPr lang="en-US" altLang="ko-KR" b="1" dirty="0">
                <a:solidFill>
                  <a:srgbClr val="576067"/>
                </a:solidFill>
              </a:rPr>
              <a:t>, </a:t>
            </a:r>
            <a:r>
              <a:rPr lang="ko-KR" altLang="en-US" b="1" dirty="0">
                <a:solidFill>
                  <a:srgbClr val="576067"/>
                </a:solidFill>
              </a:rPr>
              <a:t>해당 시간 동안 단위 시간당 </a:t>
            </a:r>
            <a:r>
              <a:rPr lang="en-US" altLang="ko-KR" b="1" dirty="0">
                <a:solidFill>
                  <a:srgbClr val="576067"/>
                </a:solidFill>
              </a:rPr>
              <a:t>Receive Window Size</a:t>
            </a:r>
            <a:r>
              <a:rPr lang="ko-KR" altLang="en-US" b="1" dirty="0">
                <a:solidFill>
                  <a:srgbClr val="576067"/>
                </a:solidFill>
              </a:rPr>
              <a:t>가 커지다가</a:t>
            </a:r>
            <a:r>
              <a:rPr lang="ko-KR" altLang="en-US" b="1" dirty="0">
                <a:solidFill>
                  <a:schemeClr val="accent5"/>
                </a:solidFill>
              </a:rPr>
              <a:t> 약 </a:t>
            </a:r>
            <a:r>
              <a:rPr lang="en-US" altLang="ko-KR" b="1" dirty="0">
                <a:solidFill>
                  <a:schemeClr val="accent5"/>
                </a:solidFill>
              </a:rPr>
              <a:t>2.5</a:t>
            </a:r>
            <a:r>
              <a:rPr lang="ko-KR" altLang="en-US" b="1" dirty="0">
                <a:solidFill>
                  <a:schemeClr val="accent5"/>
                </a:solidFill>
              </a:rPr>
              <a:t>초 부근</a:t>
            </a:r>
            <a:r>
              <a:rPr lang="ko-KR" altLang="en-US" b="1" dirty="0">
                <a:solidFill>
                  <a:srgbClr val="576067"/>
                </a:solidFill>
              </a:rPr>
              <a:t>에서 떨어지는 것을 확인할 수 있다</a:t>
            </a:r>
            <a:r>
              <a:rPr lang="en-US" altLang="ko-KR" b="1" dirty="0">
                <a:solidFill>
                  <a:srgbClr val="576067"/>
                </a:solidFill>
              </a:rPr>
              <a:t>.</a:t>
            </a:r>
          </a:p>
          <a:p>
            <a:pPr marL="285750" indent="-285750">
              <a:lnSpc>
                <a:spcPct val="200000"/>
              </a:lnSpc>
              <a:buFont typeface="Wingdings" panose="05000000000000000000" pitchFamily="2" charset="2"/>
              <a:buChar char="à"/>
            </a:pPr>
            <a:endParaRPr lang="en-US" altLang="ko-KR" b="1" dirty="0">
              <a:solidFill>
                <a:srgbClr val="576067"/>
              </a:solidFill>
            </a:endParaRPr>
          </a:p>
          <a:p>
            <a:pPr marL="285750" indent="-285750">
              <a:lnSpc>
                <a:spcPct val="200000"/>
              </a:lnSpc>
              <a:buFont typeface="Wingdings" panose="05000000000000000000" pitchFamily="2" charset="2"/>
              <a:buChar char="à"/>
            </a:pPr>
            <a:r>
              <a:rPr lang="ko-KR" altLang="en-US" b="1" dirty="0">
                <a:solidFill>
                  <a:srgbClr val="576067"/>
                </a:solidFill>
              </a:rPr>
              <a:t>따라서 </a:t>
            </a:r>
            <a:r>
              <a:rPr lang="en-US" altLang="ko-KR" b="1" dirty="0">
                <a:solidFill>
                  <a:schemeClr val="accent5"/>
                </a:solidFill>
              </a:rPr>
              <a:t>Congestion avoidance</a:t>
            </a:r>
            <a:r>
              <a:rPr lang="ko-KR" altLang="en-US" b="1" dirty="0">
                <a:solidFill>
                  <a:srgbClr val="576067"/>
                </a:solidFill>
              </a:rPr>
              <a:t>는 </a:t>
            </a:r>
            <a:r>
              <a:rPr lang="ko-KR" altLang="en-US" b="1" dirty="0">
                <a:solidFill>
                  <a:schemeClr val="accent5"/>
                </a:solidFill>
              </a:rPr>
              <a:t>약 </a:t>
            </a:r>
            <a:r>
              <a:rPr lang="en-US" altLang="ko-KR" b="1" dirty="0">
                <a:solidFill>
                  <a:schemeClr val="accent5"/>
                </a:solidFill>
              </a:rPr>
              <a:t>2.5</a:t>
            </a:r>
            <a:r>
              <a:rPr lang="ko-KR" altLang="en-US" b="1" dirty="0">
                <a:solidFill>
                  <a:schemeClr val="accent5"/>
                </a:solidFill>
              </a:rPr>
              <a:t>초 부근</a:t>
            </a:r>
            <a:r>
              <a:rPr lang="ko-KR" altLang="en-US" b="1" dirty="0">
                <a:solidFill>
                  <a:srgbClr val="576067"/>
                </a:solidFill>
              </a:rPr>
              <a:t>에서 </a:t>
            </a:r>
            <a:endParaRPr lang="en-US" altLang="ko-KR" b="1" dirty="0">
              <a:solidFill>
                <a:srgbClr val="576067"/>
              </a:solidFill>
            </a:endParaRPr>
          </a:p>
          <a:p>
            <a:pPr>
              <a:lnSpc>
                <a:spcPct val="200000"/>
              </a:lnSpc>
            </a:pPr>
            <a:r>
              <a:rPr lang="en-US" altLang="ko-KR" b="1" dirty="0">
                <a:solidFill>
                  <a:srgbClr val="576067"/>
                </a:solidFill>
              </a:rPr>
              <a:t>   </a:t>
            </a:r>
            <a:r>
              <a:rPr lang="ko-KR" altLang="en-US" b="1" dirty="0">
                <a:solidFill>
                  <a:srgbClr val="576067"/>
                </a:solidFill>
              </a:rPr>
              <a:t>일어나는 것으로 예상된다</a:t>
            </a:r>
            <a:r>
              <a:rPr lang="en-US" altLang="ko-KR" b="1" dirty="0">
                <a:solidFill>
                  <a:srgbClr val="576067"/>
                </a:solidFill>
              </a:rPr>
              <a:t>.</a:t>
            </a:r>
          </a:p>
        </p:txBody>
      </p:sp>
    </p:spTree>
    <p:extLst>
      <p:ext uri="{BB962C8B-B14F-4D97-AF65-F5344CB8AC3E}">
        <p14:creationId xmlns:p14="http://schemas.microsoft.com/office/powerpoint/2010/main" val="4087243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marR="0" lvl="0" indent="-285750" algn="l"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Comment on ways in which the measured data differs from the idealized behavior of TCP that we’ve studied in the text.</a:t>
            </a:r>
            <a:endParaRPr kumimoji="0" lang="ko-KR" altLang="ko-KR" sz="11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pic>
        <p:nvPicPr>
          <p:cNvPr id="3" name="그림 2">
            <a:extLst>
              <a:ext uri="{FF2B5EF4-FFF2-40B4-BE49-F238E27FC236}">
                <a16:creationId xmlns:a16="http://schemas.microsoft.com/office/drawing/2014/main" id="{1EAE1AA8-62CF-4906-A3AE-371854C822BB}"/>
              </a:ext>
            </a:extLst>
          </p:cNvPr>
          <p:cNvPicPr>
            <a:picLocks noChangeAspect="1"/>
          </p:cNvPicPr>
          <p:nvPr/>
        </p:nvPicPr>
        <p:blipFill rotWithShape="1">
          <a:blip r:embed="rId2"/>
          <a:srcRect l="17037" t="11768" r="20547" b="32917"/>
          <a:stretch/>
        </p:blipFill>
        <p:spPr>
          <a:xfrm>
            <a:off x="2366543" y="1728914"/>
            <a:ext cx="8191867" cy="4083709"/>
          </a:xfrm>
          <a:prstGeom prst="rect">
            <a:avLst/>
          </a:prstGeom>
        </p:spPr>
      </p:pic>
      <p:sp>
        <p:nvSpPr>
          <p:cNvPr id="16" name="직사각형 15">
            <a:extLst>
              <a:ext uri="{FF2B5EF4-FFF2-40B4-BE49-F238E27FC236}">
                <a16:creationId xmlns:a16="http://schemas.microsoft.com/office/drawing/2014/main" id="{4E5CD0D7-7469-4218-BE6F-C6575F46C8AA}"/>
              </a:ext>
            </a:extLst>
          </p:cNvPr>
          <p:cNvSpPr/>
          <p:nvPr/>
        </p:nvSpPr>
        <p:spPr>
          <a:xfrm>
            <a:off x="2248489" y="5602530"/>
            <a:ext cx="9043232" cy="869790"/>
          </a:xfrm>
          <a:prstGeom prst="rect">
            <a:avLst/>
          </a:prstGeom>
        </p:spPr>
        <p:txBody>
          <a:bodyPr wrap="square">
            <a:spAutoFit/>
          </a:bodyPr>
          <a:lstStyle/>
          <a:p>
            <a:pPr marL="285750" indent="-285750">
              <a:lnSpc>
                <a:spcPct val="150000"/>
              </a:lnSpc>
              <a:buFont typeface="Wingdings" panose="05000000000000000000" pitchFamily="2" charset="2"/>
              <a:buChar char="à"/>
            </a:pPr>
            <a:r>
              <a:rPr lang="ko-KR" altLang="en-US" b="1" dirty="0">
                <a:solidFill>
                  <a:srgbClr val="576067"/>
                </a:solidFill>
              </a:rPr>
              <a:t>다음은 </a:t>
            </a:r>
            <a:r>
              <a:rPr lang="en-US" altLang="ko-KR" b="1" dirty="0">
                <a:solidFill>
                  <a:srgbClr val="576067"/>
                </a:solidFill>
              </a:rPr>
              <a:t>Round Trip Time </a:t>
            </a:r>
            <a:r>
              <a:rPr lang="ko-KR" altLang="en-US" b="1" dirty="0">
                <a:solidFill>
                  <a:srgbClr val="576067"/>
                </a:solidFill>
              </a:rPr>
              <a:t>그래프이다</a:t>
            </a:r>
            <a:r>
              <a:rPr lang="en-US" altLang="ko-KR" b="1" dirty="0">
                <a:solidFill>
                  <a:srgbClr val="576067"/>
                </a:solidFill>
              </a:rPr>
              <a:t>. </a:t>
            </a:r>
            <a:r>
              <a:rPr lang="ko-KR" altLang="en-US" b="1" dirty="0">
                <a:solidFill>
                  <a:srgbClr val="576067"/>
                </a:solidFill>
              </a:rPr>
              <a:t>이 그래프를 통해 시간이 </a:t>
            </a:r>
            <a:r>
              <a:rPr lang="ko-KR" altLang="en-US" b="1" dirty="0">
                <a:solidFill>
                  <a:schemeClr val="accent5"/>
                </a:solidFill>
              </a:rPr>
              <a:t>약 </a:t>
            </a:r>
            <a:r>
              <a:rPr lang="en-US" altLang="ko-KR" b="1" dirty="0">
                <a:solidFill>
                  <a:schemeClr val="accent5"/>
                </a:solidFill>
              </a:rPr>
              <a:t>400(</a:t>
            </a:r>
            <a:r>
              <a:rPr lang="en-US" altLang="ko-KR" b="1" dirty="0" err="1">
                <a:solidFill>
                  <a:schemeClr val="accent5"/>
                </a:solidFill>
              </a:rPr>
              <a:t>ms</a:t>
            </a:r>
            <a:r>
              <a:rPr lang="en-US" altLang="ko-KR" b="1" dirty="0">
                <a:solidFill>
                  <a:schemeClr val="accent5"/>
                </a:solidFill>
              </a:rPr>
              <a:t>) </a:t>
            </a:r>
            <a:r>
              <a:rPr lang="ko-KR" altLang="en-US" b="1" dirty="0">
                <a:solidFill>
                  <a:schemeClr val="accent5"/>
                </a:solidFill>
              </a:rPr>
              <a:t>부근</a:t>
            </a:r>
            <a:r>
              <a:rPr lang="ko-KR" altLang="en-US" b="1" dirty="0">
                <a:solidFill>
                  <a:srgbClr val="576067"/>
                </a:solidFill>
              </a:rPr>
              <a:t>에서 일정하다는 것을 알 수 있다</a:t>
            </a:r>
            <a:r>
              <a:rPr lang="en-US" altLang="ko-KR" b="1" dirty="0">
                <a:solidFill>
                  <a:srgbClr val="576067"/>
                </a:solidFill>
              </a:rPr>
              <a:t>.</a:t>
            </a:r>
          </a:p>
        </p:txBody>
      </p:sp>
    </p:spTree>
    <p:extLst>
      <p:ext uri="{BB962C8B-B14F-4D97-AF65-F5344CB8AC3E}">
        <p14:creationId xmlns:p14="http://schemas.microsoft.com/office/powerpoint/2010/main" val="561956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33993" y="1608550"/>
            <a:ext cx="600422" cy="369332"/>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TCP</a:t>
            </a:r>
            <a:endParaRPr kumimoji="0" lang="ko-KR" altLang="en-US" sz="1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Lab 05 :TCP</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Congestion</a:t>
            </a:r>
            <a:r>
              <a:rPr kumimoji="0" lang="ko-KR" altLang="en-US"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 </a:t>
            </a:r>
            <a:r>
              <a:rPr kumimoji="0" lang="en-US" altLang="ko-KR" sz="24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control</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FA5D9CE3-1470-4368-9FA1-CA52F594FC29}"/>
              </a:ext>
            </a:extLst>
          </p:cNvPr>
          <p:cNvSpPr/>
          <p:nvPr/>
        </p:nvSpPr>
        <p:spPr>
          <a:xfrm>
            <a:off x="2018498" y="1081145"/>
            <a:ext cx="9503214" cy="654090"/>
          </a:xfrm>
          <a:prstGeom prst="rect">
            <a:avLst/>
          </a:prstGeom>
        </p:spPr>
        <p:txBody>
          <a:bodyPr wrap="square">
            <a:spAutoFit/>
          </a:bodyPr>
          <a:lstStyle/>
          <a:p>
            <a:pPr marL="285750" marR="0" lvl="0" indent="-285750" algn="l"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Comment on ways in which the measured data differs from the idealized behavior of TCP that we’ve studied in the text.</a:t>
            </a:r>
            <a:endParaRPr kumimoji="0" lang="ko-KR" altLang="ko-KR" sz="11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D5D1E023-B5FA-4E46-870B-02D2D9D34B88}"/>
              </a:ext>
            </a:extLst>
          </p:cNvPr>
          <p:cNvSpPr/>
          <p:nvPr/>
        </p:nvSpPr>
        <p:spPr>
          <a:xfrm>
            <a:off x="1884336" y="1921184"/>
            <a:ext cx="9276583" cy="3882153"/>
          </a:xfrm>
          <a:prstGeom prst="rect">
            <a:avLst/>
          </a:prstGeom>
        </p:spPr>
        <p:txBody>
          <a:bodyPr wrap="square">
            <a:spAutoFit/>
          </a:bodyPr>
          <a:lstStyle/>
          <a:p>
            <a:pPr marL="285750" indent="-285750">
              <a:lnSpc>
                <a:spcPct val="200000"/>
              </a:lnSpc>
              <a:buFont typeface="Wingdings" panose="05000000000000000000" pitchFamily="2" charset="2"/>
              <a:buChar char="à"/>
            </a:pPr>
            <a:r>
              <a:rPr lang="ko-KR" altLang="en-US" b="1" dirty="0">
                <a:solidFill>
                  <a:srgbClr val="576067"/>
                </a:solidFill>
              </a:rPr>
              <a:t>앞선 그래프들을 통해서 </a:t>
            </a:r>
            <a:r>
              <a:rPr lang="en-US" altLang="ko-KR" b="1" dirty="0">
                <a:solidFill>
                  <a:srgbClr val="576067"/>
                </a:solidFill>
              </a:rPr>
              <a:t>Receive Window Size</a:t>
            </a:r>
            <a:r>
              <a:rPr lang="ko-KR" altLang="en-US" b="1" dirty="0">
                <a:solidFill>
                  <a:srgbClr val="576067"/>
                </a:solidFill>
              </a:rPr>
              <a:t>와 </a:t>
            </a:r>
            <a:r>
              <a:rPr lang="en-US" altLang="ko-KR" b="1" dirty="0">
                <a:solidFill>
                  <a:srgbClr val="576067"/>
                </a:solidFill>
              </a:rPr>
              <a:t>Data </a:t>
            </a:r>
            <a:r>
              <a:rPr lang="ko-KR" altLang="en-US" b="1" dirty="0">
                <a:solidFill>
                  <a:srgbClr val="576067"/>
                </a:solidFill>
              </a:rPr>
              <a:t>전송양을 보고서</a:t>
            </a:r>
            <a:r>
              <a:rPr lang="en-US" altLang="ko-KR" b="1" dirty="0">
                <a:solidFill>
                  <a:srgbClr val="576067"/>
                </a:solidFill>
              </a:rPr>
              <a:t>,</a:t>
            </a:r>
            <a:r>
              <a:rPr lang="ko-KR" altLang="en-US" b="1" dirty="0">
                <a:solidFill>
                  <a:srgbClr val="576067"/>
                </a:solidFill>
              </a:rPr>
              <a:t> 이는</a:t>
            </a:r>
            <a:r>
              <a:rPr lang="ko-KR" altLang="en-US" b="1" dirty="0">
                <a:solidFill>
                  <a:schemeClr val="accent5"/>
                </a:solidFill>
              </a:rPr>
              <a:t> </a:t>
            </a:r>
            <a:r>
              <a:rPr lang="en-US" altLang="ko-KR" b="1" dirty="0">
                <a:solidFill>
                  <a:schemeClr val="accent5"/>
                </a:solidFill>
              </a:rPr>
              <a:t>Receive Window Size</a:t>
            </a:r>
            <a:r>
              <a:rPr lang="ko-KR" altLang="en-US" b="1" dirty="0">
                <a:solidFill>
                  <a:schemeClr val="accent5"/>
                </a:solidFill>
              </a:rPr>
              <a:t>는 초반</a:t>
            </a:r>
            <a:r>
              <a:rPr lang="ko-KR" altLang="en-US" b="1" dirty="0">
                <a:solidFill>
                  <a:srgbClr val="576067"/>
                </a:solidFill>
              </a:rPr>
              <a:t>에만 </a:t>
            </a:r>
            <a:r>
              <a:rPr lang="en-US" altLang="ko-KR" b="1" dirty="0">
                <a:solidFill>
                  <a:srgbClr val="576067"/>
                </a:solidFill>
              </a:rPr>
              <a:t>2</a:t>
            </a:r>
            <a:r>
              <a:rPr lang="ko-KR" altLang="en-US" b="1" dirty="0">
                <a:solidFill>
                  <a:srgbClr val="576067"/>
                </a:solidFill>
              </a:rPr>
              <a:t>배 씩 증가하면서 </a:t>
            </a:r>
            <a:r>
              <a:rPr lang="en-US" altLang="ko-KR" b="1" dirty="0">
                <a:solidFill>
                  <a:srgbClr val="576067"/>
                </a:solidFill>
              </a:rPr>
              <a:t>Data </a:t>
            </a:r>
            <a:r>
              <a:rPr lang="ko-KR" altLang="en-US" b="1" dirty="0">
                <a:solidFill>
                  <a:srgbClr val="576067"/>
                </a:solidFill>
              </a:rPr>
              <a:t>전송양에 관여하고</a:t>
            </a:r>
            <a:r>
              <a:rPr lang="en-US" altLang="ko-KR" b="1" dirty="0">
                <a:solidFill>
                  <a:srgbClr val="576067"/>
                </a:solidFill>
              </a:rPr>
              <a:t>, </a:t>
            </a:r>
            <a:r>
              <a:rPr lang="ko-KR" altLang="en-US" b="1" dirty="0">
                <a:solidFill>
                  <a:schemeClr val="accent5"/>
                </a:solidFill>
              </a:rPr>
              <a:t>이후에는 </a:t>
            </a:r>
            <a:r>
              <a:rPr lang="en-US" altLang="ko-KR" b="1" dirty="0">
                <a:solidFill>
                  <a:schemeClr val="accent5"/>
                </a:solidFill>
              </a:rPr>
              <a:t>Congestion</a:t>
            </a:r>
            <a:r>
              <a:rPr lang="ko-KR" altLang="en-US" b="1" dirty="0">
                <a:solidFill>
                  <a:srgbClr val="576067"/>
                </a:solidFill>
              </a:rPr>
              <a:t>으로 인한 </a:t>
            </a:r>
            <a:r>
              <a:rPr lang="en-US" altLang="ko-KR" b="1" dirty="0">
                <a:solidFill>
                  <a:srgbClr val="576067"/>
                </a:solidFill>
              </a:rPr>
              <a:t>Data </a:t>
            </a:r>
            <a:r>
              <a:rPr lang="ko-KR" altLang="en-US" b="1" dirty="0">
                <a:solidFill>
                  <a:srgbClr val="576067"/>
                </a:solidFill>
              </a:rPr>
              <a:t>전송양이 감소되었다가 증가하는 것이라고 예상된다</a:t>
            </a:r>
            <a:r>
              <a:rPr lang="en-US" altLang="ko-KR" b="1" dirty="0">
                <a:solidFill>
                  <a:srgbClr val="576067"/>
                </a:solidFill>
              </a:rPr>
              <a:t>.</a:t>
            </a:r>
          </a:p>
          <a:p>
            <a:pPr marL="285750" indent="-285750">
              <a:lnSpc>
                <a:spcPct val="200000"/>
              </a:lnSpc>
              <a:buFont typeface="Wingdings" panose="05000000000000000000" pitchFamily="2" charset="2"/>
              <a:buChar char="à"/>
            </a:pPr>
            <a:r>
              <a:rPr lang="ko-KR" altLang="en-US" b="1" dirty="0">
                <a:solidFill>
                  <a:srgbClr val="576067"/>
                </a:solidFill>
              </a:rPr>
              <a:t>그리고 해당 </a:t>
            </a:r>
            <a:r>
              <a:rPr lang="en-US" altLang="ko-KR" b="1" dirty="0">
                <a:solidFill>
                  <a:srgbClr val="576067"/>
                </a:solidFill>
              </a:rPr>
              <a:t>TCP </a:t>
            </a:r>
            <a:r>
              <a:rPr lang="ko-KR" altLang="en-US" b="1" dirty="0">
                <a:solidFill>
                  <a:srgbClr val="576067"/>
                </a:solidFill>
              </a:rPr>
              <a:t>형태는 </a:t>
            </a:r>
            <a:r>
              <a:rPr lang="en-US" altLang="ko-KR" b="1" dirty="0">
                <a:solidFill>
                  <a:schemeClr val="accent5"/>
                </a:solidFill>
              </a:rPr>
              <a:t>TCP Tahoe </a:t>
            </a:r>
            <a:r>
              <a:rPr lang="ko-KR" altLang="en-US" b="1" dirty="0">
                <a:solidFill>
                  <a:schemeClr val="accent5"/>
                </a:solidFill>
              </a:rPr>
              <a:t>형태</a:t>
            </a:r>
            <a:r>
              <a:rPr lang="ko-KR" altLang="en-US" b="1" dirty="0">
                <a:solidFill>
                  <a:srgbClr val="576067"/>
                </a:solidFill>
              </a:rPr>
              <a:t>라고 예상된다</a:t>
            </a:r>
            <a:r>
              <a:rPr lang="en-US" altLang="ko-KR" b="1" dirty="0">
                <a:solidFill>
                  <a:srgbClr val="576067"/>
                </a:solidFill>
              </a:rPr>
              <a:t>. </a:t>
            </a:r>
            <a:r>
              <a:rPr lang="ko-KR" altLang="en-US" b="1" dirty="0">
                <a:solidFill>
                  <a:srgbClr val="576067"/>
                </a:solidFill>
              </a:rPr>
              <a:t>왜냐하면 </a:t>
            </a:r>
            <a:r>
              <a:rPr lang="en-US" altLang="ko-KR" b="1" dirty="0">
                <a:solidFill>
                  <a:srgbClr val="576067"/>
                </a:solidFill>
              </a:rPr>
              <a:t>Data </a:t>
            </a:r>
            <a:r>
              <a:rPr lang="ko-KR" altLang="en-US" b="1" dirty="0">
                <a:solidFill>
                  <a:srgbClr val="576067"/>
                </a:solidFill>
              </a:rPr>
              <a:t>전송양이 감소될 때</a:t>
            </a:r>
            <a:r>
              <a:rPr lang="en-US" altLang="ko-KR" b="1" dirty="0">
                <a:solidFill>
                  <a:srgbClr val="576067"/>
                </a:solidFill>
              </a:rPr>
              <a:t>, 1</a:t>
            </a:r>
            <a:r>
              <a:rPr lang="ko-KR" altLang="en-US" b="1" dirty="0">
                <a:solidFill>
                  <a:srgbClr val="576067"/>
                </a:solidFill>
              </a:rPr>
              <a:t>까지 감소되었다가 </a:t>
            </a:r>
            <a:r>
              <a:rPr lang="en-US" altLang="ko-KR" b="1" dirty="0">
                <a:solidFill>
                  <a:srgbClr val="576067"/>
                </a:solidFill>
              </a:rPr>
              <a:t>Threshold</a:t>
            </a:r>
            <a:r>
              <a:rPr lang="ko-KR" altLang="en-US" b="1" dirty="0">
                <a:solidFill>
                  <a:srgbClr val="576067"/>
                </a:solidFill>
              </a:rPr>
              <a:t>까지 </a:t>
            </a:r>
            <a:r>
              <a:rPr lang="en-US" altLang="ko-KR" b="1" dirty="0">
                <a:solidFill>
                  <a:srgbClr val="576067"/>
                </a:solidFill>
              </a:rPr>
              <a:t>“slow start” </a:t>
            </a:r>
            <a:r>
              <a:rPr lang="ko-KR" altLang="en-US" b="1" dirty="0">
                <a:solidFill>
                  <a:srgbClr val="576067"/>
                </a:solidFill>
              </a:rPr>
              <a:t>형태로 증가한다</a:t>
            </a:r>
            <a:r>
              <a:rPr lang="en-US" altLang="ko-KR" b="1" dirty="0">
                <a:solidFill>
                  <a:srgbClr val="576067"/>
                </a:solidFill>
              </a:rPr>
              <a:t>. </a:t>
            </a:r>
            <a:r>
              <a:rPr lang="ko-KR" altLang="en-US" b="1" dirty="0">
                <a:solidFill>
                  <a:srgbClr val="576067"/>
                </a:solidFill>
              </a:rPr>
              <a:t>그런 다음</a:t>
            </a:r>
            <a:r>
              <a:rPr lang="en-US" altLang="ko-KR" b="1" dirty="0">
                <a:solidFill>
                  <a:srgbClr val="576067"/>
                </a:solidFill>
              </a:rPr>
              <a:t>, Threshold </a:t>
            </a:r>
            <a:r>
              <a:rPr lang="ko-KR" altLang="en-US" b="1" dirty="0">
                <a:solidFill>
                  <a:srgbClr val="576067"/>
                </a:solidFill>
              </a:rPr>
              <a:t>이후부터 </a:t>
            </a:r>
            <a:r>
              <a:rPr lang="en-US" altLang="ko-KR" b="1" dirty="0">
                <a:solidFill>
                  <a:srgbClr val="576067"/>
                </a:solidFill>
              </a:rPr>
              <a:t>Linear</a:t>
            </a:r>
            <a:r>
              <a:rPr lang="ko-KR" altLang="en-US" b="1" dirty="0">
                <a:solidFill>
                  <a:srgbClr val="576067"/>
                </a:solidFill>
              </a:rPr>
              <a:t>하게 증가하는 형태를 보이므로 </a:t>
            </a:r>
            <a:r>
              <a:rPr lang="en-US" altLang="ko-KR" b="1" dirty="0">
                <a:solidFill>
                  <a:srgbClr val="576067"/>
                </a:solidFill>
              </a:rPr>
              <a:t>TCP Tahoe </a:t>
            </a:r>
            <a:r>
              <a:rPr lang="ko-KR" altLang="en-US" b="1" dirty="0">
                <a:solidFill>
                  <a:srgbClr val="576067"/>
                </a:solidFill>
              </a:rPr>
              <a:t>형태로 예상할 수 있다</a:t>
            </a:r>
            <a:r>
              <a:rPr lang="en-US" altLang="ko-KR" b="1" dirty="0">
                <a:solidFill>
                  <a:srgbClr val="576067"/>
                </a:solidFill>
              </a:rPr>
              <a:t>.</a:t>
            </a:r>
          </a:p>
        </p:txBody>
      </p:sp>
    </p:spTree>
    <p:extLst>
      <p:ext uri="{BB962C8B-B14F-4D97-AF65-F5344CB8AC3E}">
        <p14:creationId xmlns:p14="http://schemas.microsoft.com/office/powerpoint/2010/main" val="733383705"/>
      </p:ext>
    </p:extLst>
  </p:cSld>
  <p:clrMapOvr>
    <a:masterClrMapping/>
  </p:clrMapOvr>
</p:sld>
</file>

<file path=ppt/theme/theme1.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3932</TotalTime>
  <Words>646</Words>
  <Application>Microsoft Office PowerPoint</Application>
  <PresentationFormat>와이드스크린</PresentationFormat>
  <Paragraphs>60</Paragraphs>
  <Slides>10</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vt:i4>
      </vt:variant>
    </vt:vector>
  </HeadingPairs>
  <TitlesOfParts>
    <vt:vector size="14" baseType="lpstr">
      <vt:lpstr>맑은 고딕</vt:lpstr>
      <vt:lpstr>Arial</vt:lpstr>
      <vt:lpstr>Wingdings</vt:lpstr>
      <vt:lpstr>1_Office 테마</vt:lpstr>
      <vt:lpstr>PowerPoint 프레젠테이션</vt:lpstr>
      <vt:lpstr>Lab 05 :TCP Congestion control</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dc:creator>
  <cp:lastModifiedBy>이 혜인</cp:lastModifiedBy>
  <cp:revision>830</cp:revision>
  <dcterms:created xsi:type="dcterms:W3CDTF">2017-04-28T07:42:30Z</dcterms:created>
  <dcterms:modified xsi:type="dcterms:W3CDTF">2020-03-08T05:50:09Z</dcterms:modified>
</cp:coreProperties>
</file>