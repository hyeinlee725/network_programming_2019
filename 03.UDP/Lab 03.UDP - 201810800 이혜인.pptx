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8" r:id="rId2"/>
    <p:sldId id="295" r:id="rId3"/>
    <p:sldId id="340" r:id="rId4"/>
    <p:sldId id="308" r:id="rId5"/>
    <p:sldId id="299" r:id="rId6"/>
    <p:sldId id="347" r:id="rId7"/>
    <p:sldId id="341" r:id="rId8"/>
    <p:sldId id="349" r:id="rId9"/>
    <p:sldId id="348" r:id="rId10"/>
    <p:sldId id="342" r:id="rId11"/>
    <p:sldId id="343" r:id="rId12"/>
    <p:sldId id="344" r:id="rId13"/>
    <p:sldId id="345" r:id="rId14"/>
    <p:sldId id="350" r:id="rId15"/>
    <p:sldId id="346" r:id="rId16"/>
    <p:sldId id="352" r:id="rId17"/>
    <p:sldId id="351" r:id="rId18"/>
    <p:sldId id="353" r:id="rId1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6067"/>
    <a:srgbClr val="64504F"/>
    <a:srgbClr val="4F403F"/>
    <a:srgbClr val="E3E1E1"/>
    <a:srgbClr val="F4CD42"/>
    <a:srgbClr val="CAA10C"/>
    <a:srgbClr val="D0AF90"/>
    <a:srgbClr val="EAEAEA"/>
    <a:srgbClr val="F8F8F8"/>
    <a:srgbClr val="F4BD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4" autoAdjust="0"/>
    <p:restoredTop sz="94660"/>
  </p:normalViewPr>
  <p:slideViewPr>
    <p:cSldViewPr snapToGrid="0">
      <p:cViewPr varScale="1">
        <p:scale>
          <a:sx n="67" d="100"/>
          <a:sy n="67" d="100"/>
        </p:scale>
        <p:origin x="6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82433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310140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6419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1659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947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070277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094888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928434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92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40390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257609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DDA607-1878-474E-AFDE-19D592E59C11}" type="datetimeFigureOut">
              <a:rPr lang="ko-KR" altLang="en-US" smtClean="0">
                <a:solidFill>
                  <a:prstClr val="black">
                    <a:tint val="75000"/>
                  </a:prstClr>
                </a:solidFill>
              </a:rPr>
              <a:pPr/>
              <a:t>2020-03-06</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65FB0F-4D3A-44DA-870C-E9263608B109}"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319126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prstClr val="white"/>
                </a:solidFill>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grpSp>
        <p:nvGrpSpPr>
          <p:cNvPr id="4" name="그룹 3"/>
          <p:cNvGrpSpPr/>
          <p:nvPr/>
        </p:nvGrpSpPr>
        <p:grpSpPr>
          <a:xfrm>
            <a:off x="5813272" y="538277"/>
            <a:ext cx="4695618" cy="5746349"/>
            <a:chOff x="4784572" y="522731"/>
            <a:chExt cx="4695618" cy="5746349"/>
          </a:xfrm>
        </p:grpSpPr>
        <p:grpSp>
          <p:nvGrpSpPr>
            <p:cNvPr id="30" name="그룹 29"/>
            <p:cNvGrpSpPr/>
            <p:nvPr/>
          </p:nvGrpSpPr>
          <p:grpSpPr>
            <a:xfrm rot="21403890">
              <a:off x="4784572" y="522731"/>
              <a:ext cx="4695618" cy="5746349"/>
              <a:chOff x="6676455" y="533399"/>
              <a:chExt cx="4675932" cy="5722257"/>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sp>
          <p:nvSpPr>
            <p:cNvPr id="3" name="모서리가 둥근 직사각형 2"/>
            <p:cNvSpPr/>
            <p:nvPr/>
          </p:nvSpPr>
          <p:spPr>
            <a:xfrm rot="18834276">
              <a:off x="4816742" y="829797"/>
              <a:ext cx="327660" cy="45719"/>
            </a:xfrm>
            <a:prstGeom prst="roundRect">
              <a:avLst/>
            </a:prstGeom>
            <a:solidFill>
              <a:srgbClr val="64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p:cNvGrpSpPr/>
          <p:nvPr/>
        </p:nvGrpSpPr>
        <p:grpSpPr>
          <a:xfrm>
            <a:off x="6654428" y="223899"/>
            <a:ext cx="4916661" cy="6204934"/>
            <a:chOff x="6676455" y="354528"/>
            <a:chExt cx="4675932" cy="5901128"/>
          </a:xfrm>
        </p:grpSpPr>
        <p:sp>
          <p:nvSpPr>
            <p:cNvPr id="10" name="직사각형 9"/>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6" name="직사각형 15"/>
            <p:cNvSpPr/>
            <p:nvPr/>
          </p:nvSpPr>
          <p:spPr>
            <a:xfrm>
              <a:off x="6734798" y="533399"/>
              <a:ext cx="4617589" cy="5722257"/>
            </a:xfrm>
            <a:prstGeom prst="rect">
              <a:avLst/>
            </a:prstGeom>
            <a:solidFill>
              <a:schemeClr val="bg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prstClr val="white"/>
                </a:solidFill>
              </a:endParaRPr>
            </a:p>
          </p:txBody>
        </p:sp>
        <p:sp>
          <p:nvSpPr>
            <p:cNvPr id="27" name="자유형 26"/>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sp>
        <p:nvSpPr>
          <p:cNvPr id="52" name="직사각형 51"/>
          <p:cNvSpPr/>
          <p:nvPr/>
        </p:nvSpPr>
        <p:spPr>
          <a:xfrm>
            <a:off x="1432989" y="1075576"/>
            <a:ext cx="4085832" cy="1935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ko-KR" altLang="en-US" sz="4000" b="1" i="1" dirty="0">
                <a:solidFill>
                  <a:schemeClr val="bg1"/>
                </a:solidFill>
                <a:latin typeface="+mn-ea"/>
                <a:cs typeface="Aharoni" panose="02010803020104030203" pitchFamily="2" charset="-79"/>
              </a:rPr>
              <a:t>네트워크 </a:t>
            </a:r>
            <a:endParaRPr lang="en-US" altLang="ko-KR" sz="4000" b="1" i="1" dirty="0">
              <a:solidFill>
                <a:schemeClr val="bg1"/>
              </a:solidFill>
              <a:latin typeface="+mn-ea"/>
              <a:cs typeface="Aharoni" panose="02010803020104030203" pitchFamily="2" charset="-79"/>
            </a:endParaRPr>
          </a:p>
          <a:p>
            <a:r>
              <a:rPr lang="ko-KR" altLang="en-US" sz="4000" b="1" i="1" dirty="0">
                <a:solidFill>
                  <a:schemeClr val="bg1"/>
                </a:solidFill>
                <a:latin typeface="+mn-ea"/>
                <a:cs typeface="Aharoni" panose="02010803020104030203" pitchFamily="2" charset="-79"/>
              </a:rPr>
              <a:t>프로그래밍</a:t>
            </a:r>
            <a:endParaRPr lang="en-US" altLang="ko-KR" sz="4000" b="1" i="1" dirty="0">
              <a:solidFill>
                <a:schemeClr val="bg1"/>
              </a:solidFill>
              <a:latin typeface="+mn-ea"/>
              <a:cs typeface="Aharoni" panose="02010803020104030203" pitchFamily="2" charset="-79"/>
            </a:endParaRPr>
          </a:p>
          <a:p>
            <a:endParaRPr lang="en-US" altLang="ko-KR" sz="1000" b="1" dirty="0">
              <a:solidFill>
                <a:schemeClr val="bg1"/>
              </a:solidFill>
              <a:latin typeface="+mn-ea"/>
              <a:cs typeface="Aharoni" panose="02010803020104030203" pitchFamily="2" charset="-79"/>
            </a:endParaRPr>
          </a:p>
          <a:p>
            <a:pPr lvl="0" algn="ctr">
              <a:lnSpc>
                <a:spcPct val="150000"/>
              </a:lnSpc>
            </a:pPr>
            <a:r>
              <a:rPr lang="en-US" altLang="ko-KR" sz="2000" b="1" i="1" dirty="0"/>
              <a:t>03. UDP</a:t>
            </a:r>
            <a:endParaRPr lang="en-US" altLang="ko-KR" sz="2000" i="1" dirty="0">
              <a:solidFill>
                <a:schemeClr val="bg1"/>
              </a:solidFill>
              <a:latin typeface="+mn-ea"/>
            </a:endParaRPr>
          </a:p>
        </p:txBody>
      </p:sp>
      <p:sp>
        <p:nvSpPr>
          <p:cNvPr id="7" name="직사각형 6"/>
          <p:cNvSpPr/>
          <p:nvPr/>
        </p:nvSpPr>
        <p:spPr>
          <a:xfrm>
            <a:off x="8644961" y="1200852"/>
            <a:ext cx="996940" cy="276999"/>
          </a:xfrm>
          <a:prstGeom prst="rect">
            <a:avLst/>
          </a:prstGeom>
        </p:spPr>
        <p:txBody>
          <a:bodyPr wrap="none">
            <a:spAutoFit/>
          </a:bodyPr>
          <a:lstStyle/>
          <a:p>
            <a:pPr algn="ctr"/>
            <a:r>
              <a:rPr lang="en-US" altLang="ko-KR" sz="1200" b="1" i="1" dirty="0">
                <a:solidFill>
                  <a:srgbClr val="64504F"/>
                </a:solidFill>
                <a:latin typeface="+mn-ea"/>
                <a:cs typeface="Aharoni" panose="02010803020104030203" pitchFamily="2" charset="-79"/>
              </a:rPr>
              <a:t>CONTENTS</a:t>
            </a:r>
          </a:p>
        </p:txBody>
      </p:sp>
      <p:cxnSp>
        <p:nvCxnSpPr>
          <p:cNvPr id="12" name="직선 연결선 11"/>
          <p:cNvCxnSpPr/>
          <p:nvPr/>
        </p:nvCxnSpPr>
        <p:spPr>
          <a:xfrm>
            <a:off x="8891431" y="1579367"/>
            <a:ext cx="504000" cy="286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모서리가 둥근 직사각형 12"/>
          <p:cNvSpPr/>
          <p:nvPr/>
        </p:nvSpPr>
        <p:spPr>
          <a:xfrm>
            <a:off x="1457082" y="4655402"/>
            <a:ext cx="3239321" cy="898579"/>
          </a:xfrm>
          <a:prstGeom prst="roundRect">
            <a:avLst>
              <a:gd name="adj" fmla="val 15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ko-KR" altLang="en-US" sz="1400" dirty="0">
                <a:solidFill>
                  <a:schemeClr val="tx1">
                    <a:lumMod val="75000"/>
                    <a:lumOff val="25000"/>
                  </a:schemeClr>
                </a:solidFill>
                <a:latin typeface="+mn-ea"/>
              </a:rPr>
              <a:t>휴먼지능정보공학과 </a:t>
            </a:r>
            <a:r>
              <a:rPr lang="en-US" altLang="ko-KR" sz="1400" dirty="0">
                <a:solidFill>
                  <a:schemeClr val="tx1">
                    <a:lumMod val="75000"/>
                    <a:lumOff val="25000"/>
                  </a:schemeClr>
                </a:solidFill>
                <a:latin typeface="+mn-ea"/>
              </a:rPr>
              <a:t>201810800 </a:t>
            </a:r>
          </a:p>
          <a:p>
            <a:pPr lvl="0" algn="ctr">
              <a:lnSpc>
                <a:spcPct val="150000"/>
              </a:lnSpc>
            </a:pPr>
            <a:r>
              <a:rPr lang="ko-KR" altLang="en-US" sz="1400" b="1" dirty="0">
                <a:solidFill>
                  <a:schemeClr val="tx1">
                    <a:lumMod val="75000"/>
                    <a:lumOff val="25000"/>
                  </a:schemeClr>
                </a:solidFill>
                <a:latin typeface="+mn-ea"/>
              </a:rPr>
              <a:t>이혜인</a:t>
            </a:r>
            <a:endParaRPr lang="en-US" altLang="ko-KR" sz="1400" b="1" dirty="0">
              <a:solidFill>
                <a:schemeClr val="tx1">
                  <a:lumMod val="75000"/>
                  <a:lumOff val="25000"/>
                </a:schemeClr>
              </a:solidFill>
              <a:latin typeface="+mn-ea"/>
            </a:endParaRPr>
          </a:p>
        </p:txBody>
      </p:sp>
      <p:sp>
        <p:nvSpPr>
          <p:cNvPr id="90" name="모서리가 둥근 직사각형 89"/>
          <p:cNvSpPr/>
          <p:nvPr/>
        </p:nvSpPr>
        <p:spPr>
          <a:xfrm rot="5400000">
            <a:off x="-236805" y="1675976"/>
            <a:ext cx="2162714" cy="279384"/>
          </a:xfrm>
          <a:prstGeom prst="roundRect">
            <a:avLst>
              <a:gd name="adj" fmla="val 327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endParaRPr lang="en-US" altLang="ko-KR" sz="1400" b="1" dirty="0">
              <a:solidFill>
                <a:schemeClr val="tx1">
                  <a:lumMod val="75000"/>
                  <a:lumOff val="25000"/>
                </a:schemeClr>
              </a:solidFill>
              <a:latin typeface="+mn-ea"/>
            </a:endParaRPr>
          </a:p>
        </p:txBody>
      </p:sp>
      <p:sp>
        <p:nvSpPr>
          <p:cNvPr id="11" name="직사각형 10">
            <a:extLst>
              <a:ext uri="{FF2B5EF4-FFF2-40B4-BE49-F238E27FC236}">
                <a16:creationId xmlns:a16="http://schemas.microsoft.com/office/drawing/2014/main" id="{37B6C3F3-C7CE-45E9-89E1-F9500C5408AF}"/>
              </a:ext>
            </a:extLst>
          </p:cNvPr>
          <p:cNvSpPr/>
          <p:nvPr/>
        </p:nvSpPr>
        <p:spPr>
          <a:xfrm>
            <a:off x="7189101" y="2720939"/>
            <a:ext cx="4298039" cy="840743"/>
          </a:xfrm>
          <a:prstGeom prst="rect">
            <a:avLst/>
          </a:prstGeom>
        </p:spPr>
        <p:txBody>
          <a:bodyPr wrap="square">
            <a:spAutoFit/>
          </a:bodyPr>
          <a:lstStyle/>
          <a:p>
            <a:pPr marL="342900" indent="-342900">
              <a:lnSpc>
                <a:spcPct val="300000"/>
              </a:lnSpc>
              <a:buFont typeface="+mj-lt"/>
              <a:buAutoNum type="arabicPeriod"/>
            </a:pPr>
            <a:r>
              <a:rPr lang="en-US" altLang="ko-KR" sz="2000" b="1" i="1" dirty="0">
                <a:solidFill>
                  <a:srgbClr val="64504F"/>
                </a:solidFill>
              </a:rPr>
              <a:t>Lab 03 : UDP on Wireshark</a:t>
            </a:r>
          </a:p>
        </p:txBody>
      </p:sp>
    </p:spTree>
    <p:extLst>
      <p:ext uri="{BB962C8B-B14F-4D97-AF65-F5344CB8AC3E}">
        <p14:creationId xmlns:p14="http://schemas.microsoft.com/office/powerpoint/2010/main" val="53396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sp>
        <p:nvSpPr>
          <p:cNvPr id="9" name="직사각형 8"/>
          <p:cNvSpPr/>
          <p:nvPr/>
        </p:nvSpPr>
        <p:spPr>
          <a:xfrm rot="5400000">
            <a:off x="269785" y="1531607"/>
            <a:ext cx="1128835" cy="523220"/>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1" u="none" strike="noStrike" kern="1200" cap="none" spc="0" normalizeH="0" baseline="0" noProof="0" dirty="0">
                <a:ln>
                  <a:noFill/>
                </a:ln>
                <a:solidFill>
                  <a:schemeClr val="bg1"/>
                </a:solidFill>
                <a:effectLst/>
                <a:uLnTx/>
                <a:uFillTx/>
                <a:latin typeface="맑은 고딕" panose="020F0502020204030204"/>
                <a:ea typeface="맑은 고딕" panose="020B0503020000020004" pitchFamily="50" charset="-127"/>
                <a:cs typeface="+mn-cs"/>
              </a:rPr>
              <a:t>Index</a:t>
            </a:r>
            <a:endParaRPr kumimoji="0" lang="ko-KR" altLang="en-US" sz="2800" b="1" u="none" strike="noStrike" kern="1200" cap="none" spc="0" normalizeH="0" baseline="0" noProof="0" dirty="0">
              <a:ln>
                <a:noFill/>
              </a:ln>
              <a:solidFill>
                <a:schemeClr val="bg1"/>
              </a:solidFill>
              <a:effectLst/>
              <a:uLnTx/>
              <a:uFillTx/>
              <a:latin typeface="맑은 고딕" panose="020F0502020204030204"/>
              <a:ea typeface="맑은 고딕" panose="020B0503020000020004" pitchFamily="50" charset="-127"/>
              <a:cs typeface="+mn-cs"/>
            </a:endParaRPr>
          </a:p>
        </p:txBody>
      </p:sp>
      <p:sp>
        <p:nvSpPr>
          <p:cNvPr id="21" name="제목 1">
            <a:extLst>
              <a:ext uri="{FF2B5EF4-FFF2-40B4-BE49-F238E27FC236}">
                <a16:creationId xmlns:a16="http://schemas.microsoft.com/office/drawing/2014/main" id="{A3EF01DF-3B19-41ED-AD62-319133FDDAA6}"/>
              </a:ext>
            </a:extLst>
          </p:cNvPr>
          <p:cNvSpPr>
            <a:spLocks noGrp="1"/>
          </p:cNvSpPr>
          <p:nvPr>
            <p:ph type="title"/>
          </p:nvPr>
        </p:nvSpPr>
        <p:spPr>
          <a:xfrm>
            <a:off x="2607333" y="581300"/>
            <a:ext cx="5191125" cy="485775"/>
          </a:xfrm>
        </p:spPr>
        <p:txBody>
          <a:bodyPr>
            <a:normAutofit/>
          </a:bodyPr>
          <a:lstStyle/>
          <a:p>
            <a:r>
              <a:rPr lang="en-US" altLang="ko-KR" sz="2800" b="1" i="1" dirty="0">
                <a:solidFill>
                  <a:srgbClr val="4F403F"/>
                </a:solidFill>
              </a:rPr>
              <a:t>Lab 03 : UDP on Wireshark</a:t>
            </a:r>
            <a:endParaRPr lang="ko-KR" altLang="en-US" sz="2800" b="1" i="1" dirty="0">
              <a:solidFill>
                <a:srgbClr val="4F403F"/>
              </a:solidFill>
            </a:endParaRPr>
          </a:p>
        </p:txBody>
      </p:sp>
      <p:sp>
        <p:nvSpPr>
          <p:cNvPr id="22" name="내용 개체 틀 2">
            <a:extLst>
              <a:ext uri="{FF2B5EF4-FFF2-40B4-BE49-F238E27FC236}">
                <a16:creationId xmlns:a16="http://schemas.microsoft.com/office/drawing/2014/main" id="{863FBB8A-E68E-45A3-9986-AAC406AF1D8F}"/>
              </a:ext>
            </a:extLst>
          </p:cNvPr>
          <p:cNvSpPr>
            <a:spLocks noGrp="1"/>
          </p:cNvSpPr>
          <p:nvPr>
            <p:ph sz="quarter" idx="1"/>
          </p:nvPr>
        </p:nvSpPr>
        <p:spPr>
          <a:xfrm>
            <a:off x="1626947" y="1066451"/>
            <a:ext cx="6932368" cy="5210249"/>
          </a:xfrm>
        </p:spPr>
        <p:txBody>
          <a:bodyPr>
            <a:noAutofit/>
          </a:bodyPr>
          <a:lstStyle/>
          <a:p>
            <a:pPr marL="0" indent="0">
              <a:lnSpc>
                <a:spcPct val="120000"/>
              </a:lnSpc>
              <a:buFont typeface="Wingdings 3" panose="05040102010807070707" pitchFamily="18" charset="2"/>
              <a:buNone/>
              <a:defRPr/>
            </a:pPr>
            <a:r>
              <a:rPr lang="en-US" altLang="ko-KR" sz="1800" b="1" i="1" dirty="0">
                <a:solidFill>
                  <a:srgbClr val="576067"/>
                </a:solidFill>
              </a:rPr>
              <a:t>Instructions</a:t>
            </a:r>
          </a:p>
          <a:p>
            <a:pPr marL="514350" indent="-514350">
              <a:lnSpc>
                <a:spcPct val="120000"/>
              </a:lnSpc>
              <a:buFont typeface="+mj-lt"/>
              <a:buAutoNum type="arabicPeriod"/>
              <a:defRPr/>
            </a:pPr>
            <a:r>
              <a:rPr lang="en-US" altLang="ko-KR" sz="1600" b="1" i="1" dirty="0">
                <a:solidFill>
                  <a:srgbClr val="4F403F"/>
                </a:solidFill>
              </a:rPr>
              <a:t>Start capturing packets in Wireshark.</a:t>
            </a:r>
          </a:p>
          <a:p>
            <a:pPr marL="514350" indent="-514350">
              <a:lnSpc>
                <a:spcPct val="120000"/>
              </a:lnSpc>
              <a:buFont typeface="+mj-lt"/>
              <a:buAutoNum type="arabicPeriod"/>
              <a:defRPr/>
            </a:pPr>
            <a:r>
              <a:rPr lang="en-US" altLang="ko-KR" sz="1600" b="1" i="1" dirty="0">
                <a:solidFill>
                  <a:srgbClr val="4F403F"/>
                </a:solidFill>
              </a:rPr>
              <a:t>Stop capturing packets.</a:t>
            </a:r>
          </a:p>
          <a:p>
            <a:pPr marL="0" indent="0">
              <a:lnSpc>
                <a:spcPct val="120000"/>
              </a:lnSpc>
              <a:buNone/>
              <a:defRPr/>
            </a:pPr>
            <a:endParaRPr lang="en-US" altLang="ko-KR" sz="1000" b="1" i="1" dirty="0">
              <a:solidFill>
                <a:srgbClr val="4F403F"/>
              </a:solidFill>
            </a:endParaRPr>
          </a:p>
          <a:p>
            <a:pPr marL="0" indent="0">
              <a:lnSpc>
                <a:spcPct val="120000"/>
              </a:lnSpc>
              <a:buNone/>
              <a:defRPr/>
            </a:pPr>
            <a:r>
              <a:rPr lang="en-US" altLang="ko-KR" sz="1600" b="1" i="1" dirty="0">
                <a:solidFill>
                  <a:srgbClr val="576067"/>
                </a:solidFill>
              </a:rPr>
              <a:t>Questions</a:t>
            </a:r>
          </a:p>
          <a:p>
            <a:pPr marL="361950" indent="-361950">
              <a:lnSpc>
                <a:spcPct val="120000"/>
              </a:lnSpc>
              <a:buFont typeface="Bookman Old Style" pitchFamily="18" charset="0"/>
              <a:buAutoNum type="arabicPeriod"/>
              <a:defRPr/>
            </a:pPr>
            <a:r>
              <a:rPr lang="en-US" altLang="ko-KR" sz="1600" b="1" i="1" dirty="0">
                <a:solidFill>
                  <a:srgbClr val="4F403F"/>
                </a:solidFill>
              </a:rPr>
              <a:t>Select one UDP packet from your trace. From this packet, determine how many fields there are in the UDP header. Name these fields. </a:t>
            </a:r>
          </a:p>
          <a:p>
            <a:pPr marL="361950" indent="-361950">
              <a:lnSpc>
                <a:spcPct val="120000"/>
              </a:lnSpc>
              <a:buFont typeface="Bookman Old Style" pitchFamily="18" charset="0"/>
              <a:buAutoNum type="arabicPeriod"/>
              <a:defRPr/>
            </a:pPr>
            <a:r>
              <a:rPr lang="en-US" altLang="ko-KR" sz="1600" b="1" i="1" dirty="0">
                <a:solidFill>
                  <a:srgbClr val="4F403F"/>
                </a:solidFill>
              </a:rPr>
              <a:t>Find out the length (in bytes) of each of the UDP header fields. </a:t>
            </a:r>
          </a:p>
          <a:p>
            <a:pPr marL="361950" indent="-361950">
              <a:lnSpc>
                <a:spcPct val="120000"/>
              </a:lnSpc>
              <a:buFont typeface="Bookman Old Style" pitchFamily="18" charset="0"/>
              <a:buAutoNum type="arabicPeriod"/>
              <a:defRPr/>
            </a:pPr>
            <a:r>
              <a:rPr lang="en-US" altLang="ko-KR" sz="1600" b="1" i="1" dirty="0">
                <a:solidFill>
                  <a:srgbClr val="4F403F"/>
                </a:solidFill>
              </a:rPr>
              <a:t>The value in the Length field is the length of what? Verify your claim with your captured UDP packet. </a:t>
            </a:r>
          </a:p>
          <a:p>
            <a:pPr marL="361950" indent="-361950">
              <a:lnSpc>
                <a:spcPct val="120000"/>
              </a:lnSpc>
              <a:buFont typeface="Bookman Old Style" pitchFamily="18" charset="0"/>
              <a:buAutoNum type="arabicPeriod"/>
              <a:defRPr/>
            </a:pPr>
            <a:r>
              <a:rPr lang="en-US" altLang="ko-KR" sz="1600" b="1" i="1" dirty="0">
                <a:solidFill>
                  <a:srgbClr val="4F403F"/>
                </a:solidFill>
              </a:rPr>
              <a:t>What is the maximum number of bytes that can be included in a UDP payload? (Hint: the answer to this question can be determined by your answer to 2. above) </a:t>
            </a:r>
          </a:p>
          <a:p>
            <a:pPr marL="0" indent="0">
              <a:lnSpc>
                <a:spcPct val="120000"/>
              </a:lnSpc>
              <a:buNone/>
              <a:defRPr/>
            </a:pPr>
            <a:endParaRPr lang="en-US" altLang="ko-KR" sz="1600" b="1" i="1" dirty="0">
              <a:solidFill>
                <a:srgbClr val="4F403F"/>
              </a:solidFill>
            </a:endParaRPr>
          </a:p>
          <a:p>
            <a:pPr marL="0" indent="0">
              <a:lnSpc>
                <a:spcPct val="120000"/>
              </a:lnSpc>
              <a:buNone/>
              <a:defRPr/>
            </a:pPr>
            <a:endParaRPr lang="en-US" altLang="ko-KR" sz="1600" b="1" i="1" dirty="0">
              <a:solidFill>
                <a:srgbClr val="4F403F"/>
              </a:solidFill>
            </a:endParaRP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F4CD42"/>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3211218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grpSp>
      <p:sp>
        <p:nvSpPr>
          <p:cNvPr id="9" name="직사각형 8"/>
          <p:cNvSpPr/>
          <p:nvPr/>
        </p:nvSpPr>
        <p:spPr>
          <a:xfrm rot="5400000">
            <a:off x="269785" y="1531607"/>
            <a:ext cx="1128835" cy="523220"/>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rPr>
              <a:t>Index</a:t>
            </a:r>
            <a:endParaRPr kumimoji="0" lang="ko-KR" altLang="en-US" sz="2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endParaRPr>
          </a:p>
        </p:txBody>
      </p:sp>
      <p:sp>
        <p:nvSpPr>
          <p:cNvPr id="21" name="제목 1">
            <a:extLst>
              <a:ext uri="{FF2B5EF4-FFF2-40B4-BE49-F238E27FC236}">
                <a16:creationId xmlns:a16="http://schemas.microsoft.com/office/drawing/2014/main" id="{A3EF01DF-3B19-41ED-AD62-319133FDDAA6}"/>
              </a:ext>
            </a:extLst>
          </p:cNvPr>
          <p:cNvSpPr>
            <a:spLocks noGrp="1"/>
          </p:cNvSpPr>
          <p:nvPr>
            <p:ph type="title"/>
          </p:nvPr>
        </p:nvSpPr>
        <p:spPr>
          <a:xfrm>
            <a:off x="2607333" y="581300"/>
            <a:ext cx="5191125" cy="485775"/>
          </a:xfrm>
        </p:spPr>
        <p:txBody>
          <a:bodyPr>
            <a:normAutofit/>
          </a:bodyPr>
          <a:lstStyle/>
          <a:p>
            <a:r>
              <a:rPr lang="en-US" altLang="ko-KR" sz="2800" b="1" i="1" dirty="0">
                <a:solidFill>
                  <a:srgbClr val="4F403F"/>
                </a:solidFill>
              </a:rPr>
              <a:t>Lab 03 : UDP on Wireshark</a:t>
            </a:r>
            <a:endParaRPr lang="ko-KR" altLang="en-US" sz="2800" b="1" i="1" dirty="0">
              <a:solidFill>
                <a:srgbClr val="4F403F"/>
              </a:solidFill>
            </a:endParaRPr>
          </a:p>
        </p:txBody>
      </p:sp>
      <p:sp>
        <p:nvSpPr>
          <p:cNvPr id="22" name="내용 개체 틀 2">
            <a:extLst>
              <a:ext uri="{FF2B5EF4-FFF2-40B4-BE49-F238E27FC236}">
                <a16:creationId xmlns:a16="http://schemas.microsoft.com/office/drawing/2014/main" id="{863FBB8A-E68E-45A3-9986-AAC406AF1D8F}"/>
              </a:ext>
            </a:extLst>
          </p:cNvPr>
          <p:cNvSpPr>
            <a:spLocks noGrp="1"/>
          </p:cNvSpPr>
          <p:nvPr>
            <p:ph sz="quarter" idx="1"/>
          </p:nvPr>
        </p:nvSpPr>
        <p:spPr>
          <a:xfrm>
            <a:off x="1626946" y="1066451"/>
            <a:ext cx="7735591" cy="5376862"/>
          </a:xfrm>
        </p:spPr>
        <p:txBody>
          <a:bodyPr>
            <a:noAutofit/>
          </a:bodyPr>
          <a:lstStyle/>
          <a:p>
            <a:pPr marL="0" indent="0">
              <a:lnSpc>
                <a:spcPct val="120000"/>
              </a:lnSpc>
              <a:buFont typeface="Wingdings 3" panose="05040102010807070707" pitchFamily="18" charset="2"/>
              <a:buNone/>
              <a:defRPr/>
            </a:pPr>
            <a:r>
              <a:rPr lang="en-US" altLang="ko-KR" sz="1800" b="1" i="1" dirty="0">
                <a:solidFill>
                  <a:srgbClr val="576067"/>
                </a:solidFill>
              </a:rPr>
              <a:t>Questions</a:t>
            </a:r>
          </a:p>
          <a:p>
            <a:pPr marL="0" indent="0">
              <a:lnSpc>
                <a:spcPct val="120000"/>
              </a:lnSpc>
              <a:buFont typeface="Wingdings 3" panose="05040102010807070707" pitchFamily="18" charset="2"/>
              <a:buNone/>
              <a:defRPr/>
            </a:pPr>
            <a:endParaRPr lang="en-US" altLang="ko-KR" sz="1000" b="1" i="1" dirty="0">
              <a:solidFill>
                <a:srgbClr val="576067"/>
              </a:solidFill>
            </a:endParaRPr>
          </a:p>
          <a:p>
            <a:pPr marL="361950" indent="-361950">
              <a:lnSpc>
                <a:spcPct val="120000"/>
              </a:lnSpc>
              <a:buFont typeface="+mj-lt"/>
              <a:buAutoNum type="arabicPeriod" startAt="5"/>
              <a:defRPr/>
            </a:pPr>
            <a:r>
              <a:rPr lang="en-US" altLang="ko-KR" sz="1600" b="1" i="1" dirty="0">
                <a:solidFill>
                  <a:srgbClr val="4F403F"/>
                </a:solidFill>
              </a:rPr>
              <a:t>What is the largest possible source port number? (Hint: see the hint in 4.) </a:t>
            </a:r>
          </a:p>
          <a:p>
            <a:pPr marL="361950" indent="-361950">
              <a:lnSpc>
                <a:spcPct val="120000"/>
              </a:lnSpc>
              <a:buFont typeface="Bookman Old Style" pitchFamily="18" charset="0"/>
              <a:buAutoNum type="arabicPeriod" startAt="5"/>
              <a:defRPr/>
            </a:pPr>
            <a:r>
              <a:rPr lang="en-US" altLang="ko-KR" sz="1600" b="1" i="1" dirty="0">
                <a:solidFill>
                  <a:srgbClr val="4F403F"/>
                </a:solidFill>
              </a:rPr>
              <a:t>What is the protocol number for UDP? Give your answer in both hexadecimal and decimal notation. To answer this question, you’ll need to look into the Protocol field of the IP packet containing this UDP segment. </a:t>
            </a:r>
          </a:p>
          <a:p>
            <a:pPr marL="361950" indent="-361950">
              <a:lnSpc>
                <a:spcPct val="120000"/>
              </a:lnSpc>
              <a:buFont typeface="Bookman Old Style" pitchFamily="18" charset="0"/>
              <a:buAutoNum type="arabicPeriod" startAt="5"/>
              <a:defRPr/>
            </a:pPr>
            <a:r>
              <a:rPr lang="en-US" altLang="ko-KR" sz="1600" b="1" i="1" dirty="0">
                <a:solidFill>
                  <a:srgbClr val="4F403F"/>
                </a:solidFill>
              </a:rPr>
              <a:t>Examine a pair of UDP packets. (your host sends the first UDP packet and the second UDP packet is a reply to this first UDP packet.) (Hint: for a second packet to be sent in response to a first packet, the sender of the first packet should be the destination of the second packet).  Describe the relationship between the port numbers in the two packets.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F4CD42"/>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endParaRPr>
          </a:p>
        </p:txBody>
      </p:sp>
    </p:spTree>
    <p:extLst>
      <p:ext uri="{BB962C8B-B14F-4D97-AF65-F5344CB8AC3E}">
        <p14:creationId xmlns:p14="http://schemas.microsoft.com/office/powerpoint/2010/main" val="755417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F4CD42"/>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CAA1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grpSp>
      <p:sp>
        <p:nvSpPr>
          <p:cNvPr id="9" name="직사각형 8"/>
          <p:cNvSpPr/>
          <p:nvPr/>
        </p:nvSpPr>
        <p:spPr>
          <a:xfrm rot="5400000">
            <a:off x="269785" y="1531607"/>
            <a:ext cx="1128835" cy="523220"/>
          </a:xfrm>
          <a:prstGeom prst="rect">
            <a:avLst/>
          </a:prstGeom>
        </p:spPr>
        <p:txBody>
          <a:bodyPr wrap="non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rPr>
              <a:t>Index</a:t>
            </a:r>
            <a:endParaRPr kumimoji="0" lang="ko-KR" altLang="en-US" sz="2800" b="1"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F4CD42"/>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1" i="1" u="none" strike="noStrike" kern="1200" cap="none" spc="0" normalizeH="0" baseline="0" noProof="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4" name="내용 개체 틀 3">
            <a:extLst>
              <a:ext uri="{FF2B5EF4-FFF2-40B4-BE49-F238E27FC236}">
                <a16:creationId xmlns:a16="http://schemas.microsoft.com/office/drawing/2014/main" id="{797DCEF5-FA37-454E-B82F-75056C4DF547}"/>
              </a:ext>
            </a:extLst>
          </p:cNvPr>
          <p:cNvSpPr>
            <a:spLocks noGrp="1"/>
          </p:cNvSpPr>
          <p:nvPr>
            <p:ph idx="1"/>
          </p:nvPr>
        </p:nvSpPr>
        <p:spPr>
          <a:xfrm>
            <a:off x="3657370" y="2970193"/>
            <a:ext cx="5730516" cy="736320"/>
          </a:xfrm>
        </p:spPr>
        <p:txBody>
          <a:bodyPr>
            <a:normAutofit/>
          </a:bodyPr>
          <a:lstStyle/>
          <a:p>
            <a:r>
              <a:rPr lang="en-US" altLang="ko-KR" sz="3200" b="1" i="1" dirty="0">
                <a:solidFill>
                  <a:srgbClr val="4F403F"/>
                </a:solidFill>
              </a:rPr>
              <a:t>Lab 03 : UDP on Wireshark</a:t>
            </a:r>
            <a:endParaRPr lang="ko-KR" altLang="en-US" sz="3200" dirty="0">
              <a:solidFill>
                <a:srgbClr val="4F403F"/>
              </a:solidFill>
            </a:endParaRPr>
          </a:p>
        </p:txBody>
      </p:sp>
    </p:spTree>
    <p:extLst>
      <p:ext uri="{BB962C8B-B14F-4D97-AF65-F5344CB8AC3E}">
        <p14:creationId xmlns:p14="http://schemas.microsoft.com/office/powerpoint/2010/main" val="906963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prstClr val="white"/>
                </a:solidFill>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00619" y="1608550"/>
            <a:ext cx="667170"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654090"/>
          </a:xfrm>
          <a:prstGeom prst="rect">
            <a:avLst/>
          </a:prstGeom>
        </p:spPr>
        <p:txBody>
          <a:bodyPr wrap="square">
            <a:spAutoFit/>
          </a:bodyPr>
          <a:lstStyle/>
          <a:p>
            <a:pPr marL="361950" indent="-361950">
              <a:lnSpc>
                <a:spcPct val="120000"/>
              </a:lnSpc>
              <a:buFont typeface="Bookman Old Style" pitchFamily="18" charset="0"/>
              <a:buAutoNum type="arabicPeriod"/>
              <a:defRPr/>
            </a:pPr>
            <a:r>
              <a:rPr lang="en-US" altLang="ko-KR" sz="1600" b="1" i="1" dirty="0">
                <a:solidFill>
                  <a:srgbClr val="4F403F"/>
                </a:solidFill>
              </a:rPr>
              <a:t>Select one UDP packet from your trace. From this packet, determine how many fields there are in the UDP header. Name these fields. </a:t>
            </a:r>
          </a:p>
        </p:txBody>
      </p:sp>
      <p:pic>
        <p:nvPicPr>
          <p:cNvPr id="4" name="그림 3">
            <a:extLst>
              <a:ext uri="{FF2B5EF4-FFF2-40B4-BE49-F238E27FC236}">
                <a16:creationId xmlns:a16="http://schemas.microsoft.com/office/drawing/2014/main" id="{6BEA36F3-9596-4F52-930E-D70C1B6B8616}"/>
              </a:ext>
            </a:extLst>
          </p:cNvPr>
          <p:cNvPicPr>
            <a:picLocks noChangeAspect="1"/>
          </p:cNvPicPr>
          <p:nvPr/>
        </p:nvPicPr>
        <p:blipFill rotWithShape="1">
          <a:blip r:embed="rId2"/>
          <a:srcRect t="13894" r="1700" b="6344"/>
          <a:stretch/>
        </p:blipFill>
        <p:spPr>
          <a:xfrm>
            <a:off x="1843292" y="1793216"/>
            <a:ext cx="9384451" cy="4283243"/>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black"/>
              </a:solidFill>
            </a:endParaRPr>
          </a:p>
        </p:txBody>
      </p:sp>
      <p:sp>
        <p:nvSpPr>
          <p:cNvPr id="7" name="직사각형 6">
            <a:extLst>
              <a:ext uri="{FF2B5EF4-FFF2-40B4-BE49-F238E27FC236}">
                <a16:creationId xmlns:a16="http://schemas.microsoft.com/office/drawing/2014/main" id="{7B48A394-EF82-4F32-8311-8461D5510C6C}"/>
              </a:ext>
            </a:extLst>
          </p:cNvPr>
          <p:cNvSpPr/>
          <p:nvPr/>
        </p:nvSpPr>
        <p:spPr>
          <a:xfrm>
            <a:off x="2077217" y="3510068"/>
            <a:ext cx="1926892" cy="561418"/>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276205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654090"/>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Bookman Old Style" pitchFamily="18" charset="0"/>
              <a:buAutoNum type="arabicPeriod"/>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Select one UDP packet from your trace. From this packet, determine how many fields there are in the UDP header. Name these fields.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aphicFrame>
        <p:nvGraphicFramePr>
          <p:cNvPr id="6" name="표 6">
            <a:extLst>
              <a:ext uri="{FF2B5EF4-FFF2-40B4-BE49-F238E27FC236}">
                <a16:creationId xmlns:a16="http://schemas.microsoft.com/office/drawing/2014/main" id="{0AB3A89C-55B5-496A-BD03-2D4261A984B9}"/>
              </a:ext>
            </a:extLst>
          </p:cNvPr>
          <p:cNvGraphicFramePr>
            <a:graphicFrameLocks noGrp="1"/>
          </p:cNvGraphicFramePr>
          <p:nvPr>
            <p:extLst>
              <p:ext uri="{D42A27DB-BD31-4B8C-83A1-F6EECF244321}">
                <p14:modId xmlns:p14="http://schemas.microsoft.com/office/powerpoint/2010/main" val="3961668398"/>
              </p:ext>
            </p:extLst>
          </p:nvPr>
        </p:nvGraphicFramePr>
        <p:xfrm>
          <a:off x="2181702" y="2480724"/>
          <a:ext cx="8680080" cy="893075"/>
        </p:xfrm>
        <a:graphic>
          <a:graphicData uri="http://schemas.openxmlformats.org/drawingml/2006/table">
            <a:tbl>
              <a:tblPr firstRow="1" bandRow="1">
                <a:tableStyleId>{5940675A-B579-460E-94D1-54222C63F5DA}</a:tableStyleId>
              </a:tblPr>
              <a:tblGrid>
                <a:gridCol w="2170020">
                  <a:extLst>
                    <a:ext uri="{9D8B030D-6E8A-4147-A177-3AD203B41FA5}">
                      <a16:colId xmlns:a16="http://schemas.microsoft.com/office/drawing/2014/main" val="4034608537"/>
                    </a:ext>
                  </a:extLst>
                </a:gridCol>
                <a:gridCol w="2170020">
                  <a:extLst>
                    <a:ext uri="{9D8B030D-6E8A-4147-A177-3AD203B41FA5}">
                      <a16:colId xmlns:a16="http://schemas.microsoft.com/office/drawing/2014/main" val="4114962496"/>
                    </a:ext>
                  </a:extLst>
                </a:gridCol>
                <a:gridCol w="2170020">
                  <a:extLst>
                    <a:ext uri="{9D8B030D-6E8A-4147-A177-3AD203B41FA5}">
                      <a16:colId xmlns:a16="http://schemas.microsoft.com/office/drawing/2014/main" val="1317929703"/>
                    </a:ext>
                  </a:extLst>
                </a:gridCol>
                <a:gridCol w="2170020">
                  <a:extLst>
                    <a:ext uri="{9D8B030D-6E8A-4147-A177-3AD203B41FA5}">
                      <a16:colId xmlns:a16="http://schemas.microsoft.com/office/drawing/2014/main" val="525616004"/>
                    </a:ext>
                  </a:extLst>
                </a:gridCol>
              </a:tblGrid>
              <a:tr h="893075">
                <a:tc>
                  <a:txBody>
                    <a:bodyPr/>
                    <a:lstStyle/>
                    <a:p>
                      <a:pPr lvl="0" algn="ctr">
                        <a:lnSpc>
                          <a:spcPct val="120000"/>
                        </a:lnSpc>
                        <a:defRPr/>
                      </a:pPr>
                      <a:endParaRPr lang="en-US" altLang="ko-KR" sz="1800" b="1" i="1" dirty="0">
                        <a:solidFill>
                          <a:srgbClr val="4F403F"/>
                        </a:solidFill>
                      </a:endParaRPr>
                    </a:p>
                  </a:txBody>
                  <a:tcPr/>
                </a:tc>
                <a:tc>
                  <a:txBody>
                    <a:bodyPr/>
                    <a:lstStyle/>
                    <a:p>
                      <a:pPr latinLnBrk="1"/>
                      <a:endParaRPr lang="ko-KR" altLang="en-US" dirty="0"/>
                    </a:p>
                  </a:txBody>
                  <a:tcPr/>
                </a:tc>
                <a:tc>
                  <a:txBody>
                    <a:bodyPr/>
                    <a:lstStyle/>
                    <a:p>
                      <a:pPr latinLnBrk="1"/>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val="320358714"/>
                  </a:ext>
                </a:extLst>
              </a:tr>
            </a:tbl>
          </a:graphicData>
        </a:graphic>
      </p:graphicFrame>
      <p:sp>
        <p:nvSpPr>
          <p:cNvPr id="27" name="직사각형 26">
            <a:extLst>
              <a:ext uri="{FF2B5EF4-FFF2-40B4-BE49-F238E27FC236}">
                <a16:creationId xmlns:a16="http://schemas.microsoft.com/office/drawing/2014/main" id="{2077EDF9-6228-4633-8581-6F5AC8AFD118}"/>
              </a:ext>
            </a:extLst>
          </p:cNvPr>
          <p:cNvSpPr/>
          <p:nvPr/>
        </p:nvSpPr>
        <p:spPr>
          <a:xfrm>
            <a:off x="4365424" y="2703273"/>
            <a:ext cx="2147159" cy="391967"/>
          </a:xfrm>
          <a:prstGeom prst="rect">
            <a:avLst/>
          </a:prstGeom>
        </p:spPr>
        <p:txBody>
          <a:bodyPr wrap="square">
            <a:spAutoFit/>
          </a:bodyPr>
          <a:lstStyle/>
          <a:p>
            <a:pPr lvl="0" algn="ctr">
              <a:lnSpc>
                <a:spcPct val="120000"/>
              </a:lnSpc>
              <a:defRPr/>
            </a:pPr>
            <a:r>
              <a:rPr lang="en-US" altLang="ko-KR" b="1" i="1" dirty="0">
                <a:solidFill>
                  <a:srgbClr val="64504F"/>
                </a:solidFill>
              </a:rPr>
              <a:t>Destination Port</a:t>
            </a:r>
          </a:p>
        </p:txBody>
      </p:sp>
      <p:sp>
        <p:nvSpPr>
          <p:cNvPr id="28" name="직사각형 27">
            <a:extLst>
              <a:ext uri="{FF2B5EF4-FFF2-40B4-BE49-F238E27FC236}">
                <a16:creationId xmlns:a16="http://schemas.microsoft.com/office/drawing/2014/main" id="{077BA0DA-ADD7-49CA-A550-74002F01101B}"/>
              </a:ext>
            </a:extLst>
          </p:cNvPr>
          <p:cNvSpPr/>
          <p:nvPr/>
        </p:nvSpPr>
        <p:spPr>
          <a:xfrm>
            <a:off x="1913740" y="2709770"/>
            <a:ext cx="2624150" cy="391967"/>
          </a:xfrm>
          <a:prstGeom prst="rect">
            <a:avLst/>
          </a:prstGeom>
        </p:spPr>
        <p:txBody>
          <a:bodyPr wrap="square">
            <a:spAutoFit/>
          </a:bodyPr>
          <a:lstStyle/>
          <a:p>
            <a:pPr lvl="0" algn="ctr">
              <a:lnSpc>
                <a:spcPct val="120000"/>
              </a:lnSpc>
              <a:defRPr/>
            </a:pPr>
            <a:r>
              <a:rPr lang="en-US" altLang="ko-KR" b="1" i="1" dirty="0">
                <a:solidFill>
                  <a:srgbClr val="64504F"/>
                </a:solidFill>
              </a:rPr>
              <a:t>Source Port</a:t>
            </a:r>
          </a:p>
        </p:txBody>
      </p:sp>
      <p:sp>
        <p:nvSpPr>
          <p:cNvPr id="34" name="오른쪽 중괄호 33">
            <a:extLst>
              <a:ext uri="{FF2B5EF4-FFF2-40B4-BE49-F238E27FC236}">
                <a16:creationId xmlns:a16="http://schemas.microsoft.com/office/drawing/2014/main" id="{92D35040-2461-4798-A731-968A0A19D08C}"/>
              </a:ext>
            </a:extLst>
          </p:cNvPr>
          <p:cNvSpPr/>
          <p:nvPr/>
        </p:nvSpPr>
        <p:spPr>
          <a:xfrm rot="16200000">
            <a:off x="6383253" y="-2020859"/>
            <a:ext cx="276980" cy="8680081"/>
          </a:xfrm>
          <a:prstGeom prst="rightBrace">
            <a:avLst/>
          </a:prstGeom>
          <a:ln w="12700">
            <a:solidFill>
              <a:srgbClr val="4F403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CEB36317-B610-45F2-96B9-B3FBD16B8981}"/>
              </a:ext>
            </a:extLst>
          </p:cNvPr>
          <p:cNvSpPr txBox="1"/>
          <p:nvPr/>
        </p:nvSpPr>
        <p:spPr>
          <a:xfrm>
            <a:off x="5857873" y="1862810"/>
            <a:ext cx="1487032" cy="338554"/>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UDP Header</a:t>
            </a:r>
            <a:endParaRPr kumimoji="0" lang="ko-KR" altLang="en-US" sz="1600" b="1" i="0"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endParaRPr>
          </a:p>
        </p:txBody>
      </p:sp>
      <p:sp>
        <p:nvSpPr>
          <p:cNvPr id="16" name="직사각형 15">
            <a:extLst>
              <a:ext uri="{FF2B5EF4-FFF2-40B4-BE49-F238E27FC236}">
                <a16:creationId xmlns:a16="http://schemas.microsoft.com/office/drawing/2014/main" id="{888C53D3-EEB3-4231-A34F-EF90875E8C1D}"/>
              </a:ext>
            </a:extLst>
          </p:cNvPr>
          <p:cNvSpPr/>
          <p:nvPr/>
        </p:nvSpPr>
        <p:spPr>
          <a:xfrm>
            <a:off x="6597913" y="2669995"/>
            <a:ext cx="1998676" cy="425245"/>
          </a:xfrm>
          <a:prstGeom prst="rect">
            <a:avLst/>
          </a:prstGeom>
        </p:spPr>
        <p:txBody>
          <a:bodyPr wrap="square">
            <a:spAutoFit/>
          </a:bodyPr>
          <a:lstStyle/>
          <a:p>
            <a:pPr lvl="0" algn="ctr">
              <a:lnSpc>
                <a:spcPct val="120000"/>
              </a:lnSpc>
              <a:defRPr/>
            </a:pPr>
            <a:r>
              <a:rPr lang="en-US" altLang="ko-KR" sz="2000" b="1" i="1" dirty="0">
                <a:solidFill>
                  <a:srgbClr val="64504F"/>
                </a:solidFill>
              </a:rPr>
              <a:t>Length </a:t>
            </a:r>
          </a:p>
        </p:txBody>
      </p:sp>
      <p:sp>
        <p:nvSpPr>
          <p:cNvPr id="26" name="직사각형 25">
            <a:extLst>
              <a:ext uri="{FF2B5EF4-FFF2-40B4-BE49-F238E27FC236}">
                <a16:creationId xmlns:a16="http://schemas.microsoft.com/office/drawing/2014/main" id="{22268ED1-2659-4CA7-BD0D-F2CC758013C1}"/>
              </a:ext>
            </a:extLst>
          </p:cNvPr>
          <p:cNvSpPr/>
          <p:nvPr/>
        </p:nvSpPr>
        <p:spPr>
          <a:xfrm>
            <a:off x="8533929" y="2686633"/>
            <a:ext cx="2544772" cy="391967"/>
          </a:xfrm>
          <a:prstGeom prst="rect">
            <a:avLst/>
          </a:prstGeom>
        </p:spPr>
        <p:txBody>
          <a:bodyPr wrap="square">
            <a:spAutoFit/>
          </a:bodyPr>
          <a:lstStyle/>
          <a:p>
            <a:pPr lvl="0" algn="ctr">
              <a:lnSpc>
                <a:spcPct val="120000"/>
              </a:lnSpc>
              <a:defRPr/>
            </a:pPr>
            <a:r>
              <a:rPr lang="en-US" altLang="ko-KR" b="1" i="1" dirty="0">
                <a:solidFill>
                  <a:srgbClr val="64504F"/>
                </a:solidFill>
              </a:rPr>
              <a:t>Checksum</a:t>
            </a:r>
            <a:endParaRPr kumimoji="0" lang="en-US" altLang="ko-KR"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endParaRPr>
          </a:p>
        </p:txBody>
      </p:sp>
      <p:sp>
        <p:nvSpPr>
          <p:cNvPr id="36" name="직사각형 35">
            <a:extLst>
              <a:ext uri="{FF2B5EF4-FFF2-40B4-BE49-F238E27FC236}">
                <a16:creationId xmlns:a16="http://schemas.microsoft.com/office/drawing/2014/main" id="{59CD9D90-F03F-4BB6-8F9C-764577CDDB84}"/>
              </a:ext>
            </a:extLst>
          </p:cNvPr>
          <p:cNvSpPr/>
          <p:nvPr/>
        </p:nvSpPr>
        <p:spPr>
          <a:xfrm>
            <a:off x="2181094" y="3687874"/>
            <a:ext cx="5419633" cy="2664063"/>
          </a:xfrm>
          <a:prstGeom prst="rect">
            <a:avLst/>
          </a:prstGeom>
        </p:spPr>
        <p:txBody>
          <a:bodyPr wrap="square">
            <a:spAutoFit/>
          </a:bodyPr>
          <a:lstStyle/>
          <a:p>
            <a:pPr marL="285750" lvl="0" indent="-285750">
              <a:lnSpc>
                <a:spcPct val="120000"/>
              </a:lnSpc>
              <a:buFont typeface="Arial" panose="020B0604020202020204" pitchFamily="34" charset="0"/>
              <a:buChar char="•"/>
              <a:defRPr/>
            </a:pPr>
            <a:r>
              <a:rPr lang="en-US" altLang="ko-KR" b="1" dirty="0">
                <a:solidFill>
                  <a:schemeClr val="accent5"/>
                </a:solidFill>
              </a:rPr>
              <a:t>Field (In</a:t>
            </a:r>
            <a:r>
              <a:rPr lang="ko-KR" altLang="en-US" b="1" dirty="0">
                <a:solidFill>
                  <a:schemeClr val="accent5"/>
                </a:solidFill>
              </a:rPr>
              <a:t> </a:t>
            </a:r>
            <a:r>
              <a:rPr lang="en-US" altLang="ko-KR" b="1" dirty="0">
                <a:solidFill>
                  <a:schemeClr val="accent5"/>
                </a:solidFill>
              </a:rPr>
              <a:t>UDP</a:t>
            </a:r>
            <a:r>
              <a:rPr lang="ko-KR" altLang="en-US" b="1" dirty="0">
                <a:solidFill>
                  <a:schemeClr val="accent5"/>
                </a:solidFill>
              </a:rPr>
              <a:t> </a:t>
            </a:r>
            <a:r>
              <a:rPr lang="en-US" altLang="ko-KR" b="1" dirty="0">
                <a:solidFill>
                  <a:schemeClr val="accent5"/>
                </a:solidFill>
              </a:rPr>
              <a:t>Header): 4</a:t>
            </a:r>
            <a:r>
              <a:rPr lang="ko-KR" altLang="en-US" b="1" dirty="0">
                <a:solidFill>
                  <a:schemeClr val="accent5"/>
                </a:solidFill>
              </a:rPr>
              <a:t>개</a:t>
            </a:r>
            <a:endParaRPr lang="en-US" altLang="ko-KR" b="1" dirty="0">
              <a:solidFill>
                <a:schemeClr val="accent5"/>
              </a:solidFill>
            </a:endParaRPr>
          </a:p>
          <a:p>
            <a:pPr marL="285750" lvl="0" indent="-285750">
              <a:lnSpc>
                <a:spcPct val="120000"/>
              </a:lnSpc>
              <a:buFont typeface="Arial" panose="020B0604020202020204" pitchFamily="34" charset="0"/>
              <a:buChar char="•"/>
              <a:defRPr/>
            </a:pPr>
            <a:endParaRPr lang="en-US" altLang="ko-KR" sz="1300" b="1" dirty="0">
              <a:solidFill>
                <a:schemeClr val="accent5"/>
              </a:solidFill>
            </a:endParaRPr>
          </a:p>
          <a:p>
            <a:pPr marL="285750" indent="-285750">
              <a:lnSpc>
                <a:spcPct val="120000"/>
              </a:lnSpc>
              <a:buFont typeface="Arial" panose="020B0604020202020204" pitchFamily="34" charset="0"/>
              <a:buChar char="•"/>
              <a:defRPr/>
            </a:pPr>
            <a:r>
              <a:rPr lang="en-US" altLang="ko-KR" b="1" i="1" dirty="0">
                <a:solidFill>
                  <a:srgbClr val="576067"/>
                </a:solidFill>
              </a:rPr>
              <a:t>Name these fields</a:t>
            </a:r>
            <a:endParaRPr lang="en-US" altLang="ko-KR" b="1" dirty="0">
              <a:solidFill>
                <a:srgbClr val="576067"/>
              </a:solidFill>
            </a:endParaRPr>
          </a:p>
          <a:p>
            <a:pPr marL="285750" lvl="0" indent="-285750">
              <a:lnSpc>
                <a:spcPct val="120000"/>
              </a:lnSpc>
              <a:buFont typeface="Arial" panose="020B0604020202020204" pitchFamily="34" charset="0"/>
              <a:buChar char="•"/>
              <a:defRPr/>
            </a:pPr>
            <a:endParaRPr lang="en-US" altLang="ko-KR" sz="800" b="1" dirty="0">
              <a:solidFill>
                <a:schemeClr val="accent5"/>
              </a:solidFill>
            </a:endParaRPr>
          </a:p>
          <a:p>
            <a:pPr marL="742950" lvl="1" indent="-285750">
              <a:lnSpc>
                <a:spcPct val="150000"/>
              </a:lnSpc>
              <a:buFont typeface="Arial" panose="020B0604020202020204" pitchFamily="34" charset="0"/>
              <a:buChar char="•"/>
              <a:defRPr/>
            </a:pPr>
            <a:r>
              <a:rPr lang="en-US" altLang="ko-KR" sz="1700" b="1" dirty="0">
                <a:solidFill>
                  <a:schemeClr val="accent5"/>
                </a:solidFill>
              </a:rPr>
              <a:t>Source Port: 59436 </a:t>
            </a:r>
          </a:p>
          <a:p>
            <a:pPr marL="742950" lvl="1" indent="-285750">
              <a:lnSpc>
                <a:spcPct val="150000"/>
              </a:lnSpc>
              <a:buFont typeface="Arial" panose="020B0604020202020204" pitchFamily="34" charset="0"/>
              <a:buChar char="•"/>
              <a:defRPr/>
            </a:pPr>
            <a:r>
              <a:rPr lang="en-US" altLang="ko-KR" sz="1700" b="1" dirty="0">
                <a:solidFill>
                  <a:schemeClr val="accent5"/>
                </a:solidFill>
              </a:rPr>
              <a:t>Destination Port: 3478 </a:t>
            </a:r>
          </a:p>
          <a:p>
            <a:pPr marL="742950" lvl="1" indent="-285750">
              <a:lnSpc>
                <a:spcPct val="150000"/>
              </a:lnSpc>
              <a:buFont typeface="Arial" panose="020B0604020202020204" pitchFamily="34" charset="0"/>
              <a:buChar char="•"/>
              <a:defRPr/>
            </a:pPr>
            <a:r>
              <a:rPr lang="en-US" altLang="ko-KR" sz="1700" b="1" dirty="0">
                <a:solidFill>
                  <a:schemeClr val="accent5"/>
                </a:solidFill>
              </a:rPr>
              <a:t>Length: 41 </a:t>
            </a:r>
          </a:p>
          <a:p>
            <a:pPr marL="742950" lvl="1" indent="-285750">
              <a:lnSpc>
                <a:spcPct val="150000"/>
              </a:lnSpc>
              <a:buFont typeface="Arial" panose="020B0604020202020204" pitchFamily="34" charset="0"/>
              <a:buChar char="•"/>
              <a:defRPr/>
            </a:pPr>
            <a:r>
              <a:rPr lang="en-US" altLang="ko-KR" sz="1700" b="1" dirty="0">
                <a:solidFill>
                  <a:schemeClr val="accent5"/>
                </a:solidFill>
              </a:rPr>
              <a:t>Checksum: 0xfa24 [unverified]</a:t>
            </a:r>
            <a:endParaRPr kumimoji="0" lang="en-US" altLang="ko-KR" sz="1700" b="1"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endParaRPr>
          </a:p>
        </p:txBody>
      </p:sp>
    </p:spTree>
    <p:extLst>
      <p:ext uri="{BB962C8B-B14F-4D97-AF65-F5344CB8AC3E}">
        <p14:creationId xmlns:p14="http://schemas.microsoft.com/office/powerpoint/2010/main" val="2890845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358624"/>
          </a:xfrm>
          <a:prstGeom prst="rect">
            <a:avLst/>
          </a:prstGeom>
        </p:spPr>
        <p:txBody>
          <a:bodyPr wrap="square">
            <a:spAutoFit/>
          </a:bodyPr>
          <a:lstStyle/>
          <a:p>
            <a:pPr marL="361950" indent="-361950">
              <a:lnSpc>
                <a:spcPct val="120000"/>
              </a:lnSpc>
              <a:buFont typeface="+mj-lt"/>
              <a:buAutoNum type="arabicPeriod" startAt="2"/>
              <a:defRPr/>
            </a:pPr>
            <a:r>
              <a:rPr lang="en-US" altLang="ko-KR" sz="1600" b="1" i="1" dirty="0">
                <a:solidFill>
                  <a:srgbClr val="4F403F"/>
                </a:solidFill>
              </a:rPr>
              <a:t>Find out the length (in bytes) of each of the UDP header fields. </a:t>
            </a:r>
          </a:p>
        </p:txBody>
      </p:sp>
      <p:pic>
        <p:nvPicPr>
          <p:cNvPr id="4" name="그림 3">
            <a:extLst>
              <a:ext uri="{FF2B5EF4-FFF2-40B4-BE49-F238E27FC236}">
                <a16:creationId xmlns:a16="http://schemas.microsoft.com/office/drawing/2014/main" id="{F2DC3BA1-83C4-42CE-8014-91C79AB9CA83}"/>
              </a:ext>
            </a:extLst>
          </p:cNvPr>
          <p:cNvPicPr>
            <a:picLocks noChangeAspect="1"/>
          </p:cNvPicPr>
          <p:nvPr/>
        </p:nvPicPr>
        <p:blipFill rotWithShape="1">
          <a:blip r:embed="rId2"/>
          <a:srcRect t="42526" r="51807" b="16175"/>
          <a:stretch/>
        </p:blipFill>
        <p:spPr>
          <a:xfrm>
            <a:off x="1708322" y="1630179"/>
            <a:ext cx="5875686" cy="2832235"/>
          </a:xfrm>
          <a:prstGeom prst="rect">
            <a:avLst/>
          </a:prstGeom>
        </p:spPr>
      </p:pic>
      <p:pic>
        <p:nvPicPr>
          <p:cNvPr id="6" name="그림 5">
            <a:extLst>
              <a:ext uri="{FF2B5EF4-FFF2-40B4-BE49-F238E27FC236}">
                <a16:creationId xmlns:a16="http://schemas.microsoft.com/office/drawing/2014/main" id="{0539D77C-02B6-4284-A490-871F34FE48FA}"/>
              </a:ext>
            </a:extLst>
          </p:cNvPr>
          <p:cNvPicPr>
            <a:picLocks noChangeAspect="1"/>
          </p:cNvPicPr>
          <p:nvPr/>
        </p:nvPicPr>
        <p:blipFill rotWithShape="1">
          <a:blip r:embed="rId3"/>
          <a:srcRect t="42667" r="51807" b="14526"/>
          <a:stretch/>
        </p:blipFill>
        <p:spPr>
          <a:xfrm>
            <a:off x="5272038" y="3297701"/>
            <a:ext cx="5875686" cy="2935705"/>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60A6DAE3-8C6A-4AD6-B643-C172B6842367}"/>
              </a:ext>
            </a:extLst>
          </p:cNvPr>
          <p:cNvSpPr/>
          <p:nvPr/>
        </p:nvSpPr>
        <p:spPr>
          <a:xfrm>
            <a:off x="5107234" y="2248362"/>
            <a:ext cx="1473352" cy="369332"/>
          </a:xfrm>
          <a:prstGeom prst="rect">
            <a:avLst/>
          </a:prstGeom>
        </p:spPr>
        <p:txBody>
          <a:bodyPr wrap="none">
            <a:spAutoFit/>
          </a:bodyPr>
          <a:lstStyle/>
          <a:p>
            <a:r>
              <a:rPr lang="en-US" altLang="ko-KR" b="1" dirty="0">
                <a:solidFill>
                  <a:srgbClr val="576067"/>
                </a:solidFill>
              </a:rPr>
              <a:t>Source Port</a:t>
            </a:r>
            <a:endParaRPr lang="ko-KR" altLang="en-US" dirty="0">
              <a:solidFill>
                <a:srgbClr val="576067"/>
              </a:solidFill>
            </a:endParaRPr>
          </a:p>
        </p:txBody>
      </p:sp>
      <p:sp>
        <p:nvSpPr>
          <p:cNvPr id="11" name="직사각형 10">
            <a:extLst>
              <a:ext uri="{FF2B5EF4-FFF2-40B4-BE49-F238E27FC236}">
                <a16:creationId xmlns:a16="http://schemas.microsoft.com/office/drawing/2014/main" id="{C856D3C6-E75E-4993-8FAA-4F2B9D805C9A}"/>
              </a:ext>
            </a:extLst>
          </p:cNvPr>
          <p:cNvSpPr/>
          <p:nvPr/>
        </p:nvSpPr>
        <p:spPr>
          <a:xfrm>
            <a:off x="8336075" y="4070447"/>
            <a:ext cx="1990673" cy="391967"/>
          </a:xfrm>
          <a:prstGeom prst="rect">
            <a:avLst/>
          </a:prstGeom>
        </p:spPr>
        <p:txBody>
          <a:bodyPr wrap="none">
            <a:spAutoFit/>
          </a:bodyPr>
          <a:lstStyle/>
          <a:p>
            <a:pPr lvl="0" algn="ctr">
              <a:lnSpc>
                <a:spcPct val="120000"/>
              </a:lnSpc>
              <a:defRPr/>
            </a:pPr>
            <a:r>
              <a:rPr lang="en-US" altLang="ko-KR" b="1" i="1" dirty="0">
                <a:solidFill>
                  <a:srgbClr val="576067"/>
                </a:solidFill>
              </a:rPr>
              <a:t>Destination Port</a:t>
            </a:r>
          </a:p>
        </p:txBody>
      </p:sp>
      <p:sp>
        <p:nvSpPr>
          <p:cNvPr id="19" name="타원 18">
            <a:extLst>
              <a:ext uri="{FF2B5EF4-FFF2-40B4-BE49-F238E27FC236}">
                <a16:creationId xmlns:a16="http://schemas.microsoft.com/office/drawing/2014/main" id="{BAB49955-3A8C-427C-8169-341EDF7B00C6}"/>
              </a:ext>
            </a:extLst>
          </p:cNvPr>
          <p:cNvSpPr/>
          <p:nvPr/>
        </p:nvSpPr>
        <p:spPr>
          <a:xfrm>
            <a:off x="2666752" y="3832083"/>
            <a:ext cx="440388" cy="2193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a:extLst>
              <a:ext uri="{FF2B5EF4-FFF2-40B4-BE49-F238E27FC236}">
                <a16:creationId xmlns:a16="http://schemas.microsoft.com/office/drawing/2014/main" id="{273E6EA0-D11A-4F47-B89B-CE69D95A19E4}"/>
              </a:ext>
            </a:extLst>
          </p:cNvPr>
          <p:cNvSpPr/>
          <p:nvPr/>
        </p:nvSpPr>
        <p:spPr>
          <a:xfrm>
            <a:off x="6686108" y="5474738"/>
            <a:ext cx="440388" cy="2193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125388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00618" y="1608550"/>
            <a:ext cx="667170" cy="369332"/>
          </a:xfrm>
          <a:prstGeom prst="rect">
            <a:avLst/>
          </a:prstGeom>
        </p:spPr>
        <p:txBody>
          <a:bodyPr wrap="none">
            <a:spAutoFit/>
          </a:bodyPr>
          <a:lstStyle/>
          <a:p>
            <a:pPr algn="ctr">
              <a:defRPr/>
            </a:pP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Lab 03 : UDP on Wireshark</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358624"/>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mj-lt"/>
              <a:buAutoNum type="arabicPeriod" startAt="2"/>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Find out the length (in bytes) of each of the UDP header fields. </a:t>
            </a:r>
          </a:p>
        </p:txBody>
      </p:sp>
      <p:pic>
        <p:nvPicPr>
          <p:cNvPr id="7" name="그림 6">
            <a:extLst>
              <a:ext uri="{FF2B5EF4-FFF2-40B4-BE49-F238E27FC236}">
                <a16:creationId xmlns:a16="http://schemas.microsoft.com/office/drawing/2014/main" id="{31DE3C2F-B389-447E-B672-EF54AED8A492}"/>
              </a:ext>
            </a:extLst>
          </p:cNvPr>
          <p:cNvPicPr>
            <a:picLocks noChangeAspect="1"/>
          </p:cNvPicPr>
          <p:nvPr/>
        </p:nvPicPr>
        <p:blipFill rotWithShape="1">
          <a:blip r:embed="rId2"/>
          <a:srcRect l="-1" t="42386" r="52385" b="16501"/>
          <a:stretch/>
        </p:blipFill>
        <p:spPr>
          <a:xfrm>
            <a:off x="1843292" y="1697078"/>
            <a:ext cx="5805231" cy="2819550"/>
          </a:xfrm>
          <a:prstGeom prst="rect">
            <a:avLst/>
          </a:prstGeom>
        </p:spPr>
      </p:pic>
      <p:pic>
        <p:nvPicPr>
          <p:cNvPr id="9" name="그림 8">
            <a:extLst>
              <a:ext uri="{FF2B5EF4-FFF2-40B4-BE49-F238E27FC236}">
                <a16:creationId xmlns:a16="http://schemas.microsoft.com/office/drawing/2014/main" id="{A58C61BA-DF6B-439A-88E9-56C05EB464A4}"/>
              </a:ext>
            </a:extLst>
          </p:cNvPr>
          <p:cNvPicPr>
            <a:picLocks noChangeAspect="1"/>
          </p:cNvPicPr>
          <p:nvPr/>
        </p:nvPicPr>
        <p:blipFill rotWithShape="1">
          <a:blip r:embed="rId3"/>
          <a:srcRect t="42667" r="51248" b="16501"/>
          <a:stretch/>
        </p:blipFill>
        <p:spPr>
          <a:xfrm>
            <a:off x="5288594" y="3488529"/>
            <a:ext cx="5943883" cy="2800298"/>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87BD230C-31B6-4A12-9262-CAD4C380697D}"/>
              </a:ext>
            </a:extLst>
          </p:cNvPr>
          <p:cNvSpPr/>
          <p:nvPr/>
        </p:nvSpPr>
        <p:spPr>
          <a:xfrm>
            <a:off x="5366239" y="2181786"/>
            <a:ext cx="942886" cy="391967"/>
          </a:xfrm>
          <a:prstGeom prst="rect">
            <a:avLst/>
          </a:prstGeom>
        </p:spPr>
        <p:txBody>
          <a:bodyPr wrap="none">
            <a:spAutoFit/>
          </a:bodyPr>
          <a:lstStyle/>
          <a:p>
            <a:pPr lvl="0" algn="ctr">
              <a:lnSpc>
                <a:spcPct val="120000"/>
              </a:lnSpc>
              <a:defRPr/>
            </a:pPr>
            <a:r>
              <a:rPr lang="en-US" altLang="ko-KR" b="1" i="1" dirty="0">
                <a:solidFill>
                  <a:srgbClr val="576067"/>
                </a:solidFill>
              </a:rPr>
              <a:t>Length</a:t>
            </a:r>
          </a:p>
        </p:txBody>
      </p:sp>
      <p:sp>
        <p:nvSpPr>
          <p:cNvPr id="11" name="직사각형 10">
            <a:extLst>
              <a:ext uri="{FF2B5EF4-FFF2-40B4-BE49-F238E27FC236}">
                <a16:creationId xmlns:a16="http://schemas.microsoft.com/office/drawing/2014/main" id="{D6816B2F-6C43-433F-BE52-FC01031CBC51}"/>
              </a:ext>
            </a:extLst>
          </p:cNvPr>
          <p:cNvSpPr/>
          <p:nvPr/>
        </p:nvSpPr>
        <p:spPr>
          <a:xfrm>
            <a:off x="8905438" y="4124661"/>
            <a:ext cx="1300356" cy="391967"/>
          </a:xfrm>
          <a:prstGeom prst="rect">
            <a:avLst/>
          </a:prstGeom>
        </p:spPr>
        <p:txBody>
          <a:bodyPr wrap="none">
            <a:spAutoFit/>
          </a:bodyPr>
          <a:lstStyle/>
          <a:p>
            <a:pPr lvl="0" algn="ctr">
              <a:lnSpc>
                <a:spcPct val="120000"/>
              </a:lnSpc>
              <a:defRPr/>
            </a:pPr>
            <a:r>
              <a:rPr lang="en-US" altLang="ko-KR" b="1" i="1" dirty="0">
                <a:solidFill>
                  <a:srgbClr val="576067"/>
                </a:solidFill>
              </a:rPr>
              <a:t>Checksum</a:t>
            </a:r>
          </a:p>
        </p:txBody>
      </p:sp>
      <p:sp>
        <p:nvSpPr>
          <p:cNvPr id="19" name="타원 18">
            <a:extLst>
              <a:ext uri="{FF2B5EF4-FFF2-40B4-BE49-F238E27FC236}">
                <a16:creationId xmlns:a16="http://schemas.microsoft.com/office/drawing/2014/main" id="{870A31C9-18E6-44B6-82B5-DE958A721F23}"/>
              </a:ext>
            </a:extLst>
          </p:cNvPr>
          <p:cNvSpPr/>
          <p:nvPr/>
        </p:nvSpPr>
        <p:spPr>
          <a:xfrm>
            <a:off x="3727333" y="3905347"/>
            <a:ext cx="440388" cy="2193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a:extLst>
              <a:ext uri="{FF2B5EF4-FFF2-40B4-BE49-F238E27FC236}">
                <a16:creationId xmlns:a16="http://schemas.microsoft.com/office/drawing/2014/main" id="{52EAC17C-1F02-4E8C-A833-75ABA813351D}"/>
              </a:ext>
            </a:extLst>
          </p:cNvPr>
          <p:cNvSpPr/>
          <p:nvPr/>
        </p:nvSpPr>
        <p:spPr>
          <a:xfrm>
            <a:off x="7695453" y="5667607"/>
            <a:ext cx="440388" cy="2193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5840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00618" y="1608550"/>
            <a:ext cx="667170" cy="369332"/>
          </a:xfrm>
          <a:prstGeom prst="rect">
            <a:avLst/>
          </a:prstGeom>
        </p:spPr>
        <p:txBody>
          <a:bodyPr wrap="none">
            <a:spAutoFit/>
          </a:bodyPr>
          <a:lstStyle/>
          <a:p>
            <a:pPr algn="ctr">
              <a:defRPr/>
            </a:pP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Lab 03 : UDP on Wireshark</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358624"/>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mj-lt"/>
              <a:buAutoNum type="arabicPeriod" startAt="2"/>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Find out the length (in bytes) of each of the UDP header fields.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graphicFrame>
        <p:nvGraphicFramePr>
          <p:cNvPr id="16" name="표 6">
            <a:extLst>
              <a:ext uri="{FF2B5EF4-FFF2-40B4-BE49-F238E27FC236}">
                <a16:creationId xmlns:a16="http://schemas.microsoft.com/office/drawing/2014/main" id="{D5448E89-363F-45C4-ABB7-012EC0FB596E}"/>
              </a:ext>
            </a:extLst>
          </p:cNvPr>
          <p:cNvGraphicFramePr>
            <a:graphicFrameLocks noGrp="1"/>
          </p:cNvGraphicFramePr>
          <p:nvPr/>
        </p:nvGraphicFramePr>
        <p:xfrm>
          <a:off x="2181702" y="2480724"/>
          <a:ext cx="8680080" cy="893075"/>
        </p:xfrm>
        <a:graphic>
          <a:graphicData uri="http://schemas.openxmlformats.org/drawingml/2006/table">
            <a:tbl>
              <a:tblPr firstRow="1" bandRow="1">
                <a:tableStyleId>{5940675A-B579-460E-94D1-54222C63F5DA}</a:tableStyleId>
              </a:tblPr>
              <a:tblGrid>
                <a:gridCol w="2170020">
                  <a:extLst>
                    <a:ext uri="{9D8B030D-6E8A-4147-A177-3AD203B41FA5}">
                      <a16:colId xmlns:a16="http://schemas.microsoft.com/office/drawing/2014/main" val="4034608537"/>
                    </a:ext>
                  </a:extLst>
                </a:gridCol>
                <a:gridCol w="2170020">
                  <a:extLst>
                    <a:ext uri="{9D8B030D-6E8A-4147-A177-3AD203B41FA5}">
                      <a16:colId xmlns:a16="http://schemas.microsoft.com/office/drawing/2014/main" val="4114962496"/>
                    </a:ext>
                  </a:extLst>
                </a:gridCol>
                <a:gridCol w="2170020">
                  <a:extLst>
                    <a:ext uri="{9D8B030D-6E8A-4147-A177-3AD203B41FA5}">
                      <a16:colId xmlns:a16="http://schemas.microsoft.com/office/drawing/2014/main" val="1317929703"/>
                    </a:ext>
                  </a:extLst>
                </a:gridCol>
                <a:gridCol w="2170020">
                  <a:extLst>
                    <a:ext uri="{9D8B030D-6E8A-4147-A177-3AD203B41FA5}">
                      <a16:colId xmlns:a16="http://schemas.microsoft.com/office/drawing/2014/main" val="525616004"/>
                    </a:ext>
                  </a:extLst>
                </a:gridCol>
              </a:tblGrid>
              <a:tr h="893075">
                <a:tc>
                  <a:txBody>
                    <a:bodyPr/>
                    <a:lstStyle/>
                    <a:p>
                      <a:pPr lvl="0" algn="ctr">
                        <a:lnSpc>
                          <a:spcPct val="120000"/>
                        </a:lnSpc>
                        <a:defRPr/>
                      </a:pPr>
                      <a:endParaRPr lang="en-US" altLang="ko-KR" sz="1800" b="1" i="1" dirty="0">
                        <a:solidFill>
                          <a:srgbClr val="4F403F"/>
                        </a:solidFill>
                      </a:endParaRPr>
                    </a:p>
                  </a:txBody>
                  <a:tcPr/>
                </a:tc>
                <a:tc>
                  <a:txBody>
                    <a:bodyPr/>
                    <a:lstStyle/>
                    <a:p>
                      <a:pPr latinLnBrk="1"/>
                      <a:endParaRPr lang="ko-KR" altLang="en-US" dirty="0"/>
                    </a:p>
                  </a:txBody>
                  <a:tcPr/>
                </a:tc>
                <a:tc>
                  <a:txBody>
                    <a:bodyPr/>
                    <a:lstStyle/>
                    <a:p>
                      <a:pPr latinLnBrk="1"/>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val="320358714"/>
                  </a:ext>
                </a:extLst>
              </a:tr>
            </a:tbl>
          </a:graphicData>
        </a:graphic>
      </p:graphicFrame>
      <p:sp>
        <p:nvSpPr>
          <p:cNvPr id="18" name="직사각형 17">
            <a:extLst>
              <a:ext uri="{FF2B5EF4-FFF2-40B4-BE49-F238E27FC236}">
                <a16:creationId xmlns:a16="http://schemas.microsoft.com/office/drawing/2014/main" id="{AFA0263B-6152-4C02-998D-604A00894D57}"/>
              </a:ext>
            </a:extLst>
          </p:cNvPr>
          <p:cNvSpPr/>
          <p:nvPr/>
        </p:nvSpPr>
        <p:spPr>
          <a:xfrm>
            <a:off x="4365085" y="2570333"/>
            <a:ext cx="2147159" cy="724365"/>
          </a:xfrm>
          <a:prstGeom prst="rect">
            <a:avLst/>
          </a:prstGeom>
        </p:spPr>
        <p:txBody>
          <a:bodyPr wrap="square">
            <a:spAutoFit/>
          </a:bodyPr>
          <a:lstStyle/>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18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Destination Port</a:t>
            </a:r>
          </a:p>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18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(2)</a:t>
            </a:r>
          </a:p>
        </p:txBody>
      </p:sp>
      <p:sp>
        <p:nvSpPr>
          <p:cNvPr id="19" name="직사각형 18">
            <a:extLst>
              <a:ext uri="{FF2B5EF4-FFF2-40B4-BE49-F238E27FC236}">
                <a16:creationId xmlns:a16="http://schemas.microsoft.com/office/drawing/2014/main" id="{200BD235-0AED-4EAB-AF4B-1B788C1A7310}"/>
              </a:ext>
            </a:extLst>
          </p:cNvPr>
          <p:cNvSpPr/>
          <p:nvPr/>
        </p:nvSpPr>
        <p:spPr>
          <a:xfrm>
            <a:off x="1912814" y="2593385"/>
            <a:ext cx="2624150" cy="724365"/>
          </a:xfrm>
          <a:prstGeom prst="rect">
            <a:avLst/>
          </a:prstGeom>
        </p:spPr>
        <p:txBody>
          <a:bodyPr wrap="square">
            <a:spAutoFit/>
          </a:bodyPr>
          <a:lstStyle/>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18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Source Port</a:t>
            </a:r>
          </a:p>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18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(2)</a:t>
            </a:r>
          </a:p>
        </p:txBody>
      </p:sp>
      <p:sp>
        <p:nvSpPr>
          <p:cNvPr id="20" name="오른쪽 중괄호 19">
            <a:extLst>
              <a:ext uri="{FF2B5EF4-FFF2-40B4-BE49-F238E27FC236}">
                <a16:creationId xmlns:a16="http://schemas.microsoft.com/office/drawing/2014/main" id="{BBB91C2F-DB36-453E-9803-6B90E806DEB3}"/>
              </a:ext>
            </a:extLst>
          </p:cNvPr>
          <p:cNvSpPr/>
          <p:nvPr/>
        </p:nvSpPr>
        <p:spPr>
          <a:xfrm rot="16200000">
            <a:off x="6383253" y="-2020859"/>
            <a:ext cx="276980" cy="8680081"/>
          </a:xfrm>
          <a:prstGeom prst="rightBrace">
            <a:avLst/>
          </a:prstGeom>
          <a:ln w="12700">
            <a:solidFill>
              <a:srgbClr val="4F403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3648ABFD-F167-41FE-B86F-C79869291E55}"/>
              </a:ext>
            </a:extLst>
          </p:cNvPr>
          <p:cNvSpPr txBox="1"/>
          <p:nvPr/>
        </p:nvSpPr>
        <p:spPr>
          <a:xfrm>
            <a:off x="5591377" y="1826713"/>
            <a:ext cx="2217723" cy="338554"/>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600" b="1" i="0"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UDP Header(8byte)</a:t>
            </a:r>
            <a:endParaRPr kumimoji="0" lang="ko-KR" altLang="en-US" sz="1600" b="1" i="0"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E6FDF9BC-1F8B-4FEC-B939-E0B1BDEC6C81}"/>
              </a:ext>
            </a:extLst>
          </p:cNvPr>
          <p:cNvSpPr/>
          <p:nvPr/>
        </p:nvSpPr>
        <p:spPr>
          <a:xfrm>
            <a:off x="6616058" y="2536576"/>
            <a:ext cx="1998676" cy="794576"/>
          </a:xfrm>
          <a:prstGeom prst="rect">
            <a:avLst/>
          </a:prstGeom>
        </p:spPr>
        <p:txBody>
          <a:bodyPr wrap="square">
            <a:spAutoFit/>
          </a:bodyPr>
          <a:lstStyle/>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20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Length</a:t>
            </a:r>
          </a:p>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20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(2)</a:t>
            </a:r>
          </a:p>
        </p:txBody>
      </p:sp>
      <p:sp>
        <p:nvSpPr>
          <p:cNvPr id="24" name="직사각형 23">
            <a:extLst>
              <a:ext uri="{FF2B5EF4-FFF2-40B4-BE49-F238E27FC236}">
                <a16:creationId xmlns:a16="http://schemas.microsoft.com/office/drawing/2014/main" id="{11AC2430-E7B8-4072-863F-85E1EE8CEF28}"/>
              </a:ext>
            </a:extLst>
          </p:cNvPr>
          <p:cNvSpPr/>
          <p:nvPr/>
        </p:nvSpPr>
        <p:spPr>
          <a:xfrm>
            <a:off x="8542096" y="2585207"/>
            <a:ext cx="2544772" cy="724365"/>
          </a:xfrm>
          <a:prstGeom prst="rect">
            <a:avLst/>
          </a:prstGeom>
        </p:spPr>
        <p:txBody>
          <a:bodyPr wrap="square">
            <a:spAutoFit/>
          </a:bodyPr>
          <a:lstStyle/>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18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Checksum</a:t>
            </a:r>
          </a:p>
          <a:p>
            <a:pPr marL="0" marR="0" lvl="0" indent="0" algn="ctr" defTabSz="914400" rtl="0" eaLnBrk="1" fontAlgn="auto" latinLnBrk="1" hangingPunct="1">
              <a:lnSpc>
                <a:spcPct val="120000"/>
              </a:lnSpc>
              <a:spcBef>
                <a:spcPts val="0"/>
              </a:spcBef>
              <a:spcAft>
                <a:spcPts val="0"/>
              </a:spcAft>
              <a:buClrTx/>
              <a:buSzTx/>
              <a:buFontTx/>
              <a:buNone/>
              <a:tabLst/>
              <a:defRPr/>
            </a:pPr>
            <a:r>
              <a:rPr kumimoji="0" lang="en-US" altLang="ko-KR" sz="1800" b="1" i="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rPr>
              <a:t>(2)</a:t>
            </a:r>
          </a:p>
        </p:txBody>
      </p:sp>
      <p:sp>
        <p:nvSpPr>
          <p:cNvPr id="25" name="직사각형 24">
            <a:extLst>
              <a:ext uri="{FF2B5EF4-FFF2-40B4-BE49-F238E27FC236}">
                <a16:creationId xmlns:a16="http://schemas.microsoft.com/office/drawing/2014/main" id="{E7CC5047-8103-4B9E-8BC9-FAE0BE743AFE}"/>
              </a:ext>
            </a:extLst>
          </p:cNvPr>
          <p:cNvSpPr/>
          <p:nvPr/>
        </p:nvSpPr>
        <p:spPr>
          <a:xfrm>
            <a:off x="2077217" y="3914267"/>
            <a:ext cx="5419633" cy="2168351"/>
          </a:xfrm>
          <a:prstGeom prst="rect">
            <a:avLst/>
          </a:prstGeom>
        </p:spPr>
        <p:txBody>
          <a:bodyPr wrap="square">
            <a:spAutoFit/>
          </a:bodyPr>
          <a:lstStyle/>
          <a:p>
            <a:pPr marL="742950" lvl="1" indent="-285750">
              <a:lnSpc>
                <a:spcPct val="150000"/>
              </a:lnSpc>
              <a:buFont typeface="Arial" panose="020B0604020202020204" pitchFamily="34" charset="0"/>
              <a:buChar char="•"/>
              <a:defRPr/>
            </a:pP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Length(in bytes)</a:t>
            </a:r>
          </a:p>
          <a:p>
            <a:pPr marL="742950" lvl="1" indent="-285750">
              <a:lnSpc>
                <a:spcPct val="150000"/>
              </a:lnSpc>
              <a:buFont typeface="Arial" panose="020B0604020202020204" pitchFamily="34" charset="0"/>
              <a:buChar char="•"/>
              <a:defRPr/>
            </a:pPr>
            <a:endParaRPr kumimoji="0" lang="en-US" altLang="ko-KR" sz="10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endParaRPr>
          </a:p>
          <a:p>
            <a:pPr marL="1200150" lvl="2" indent="-285750">
              <a:lnSpc>
                <a:spcPct val="150000"/>
              </a:lnSpc>
              <a:buFont typeface="Arial" panose="020B0604020202020204" pitchFamily="34" charset="0"/>
              <a:buChar char="•"/>
              <a:defRPr/>
            </a:pPr>
            <a:r>
              <a:rPr kumimoji="0" lang="en-US" altLang="ko-KR" sz="1600" b="1" i="0" u="none"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Source Port : 2bytes</a:t>
            </a:r>
          </a:p>
          <a:p>
            <a:pPr marL="1200150" lvl="2" indent="-285750">
              <a:lnSpc>
                <a:spcPct val="150000"/>
              </a:lnSpc>
              <a:buFont typeface="Arial" panose="020B0604020202020204" pitchFamily="34" charset="0"/>
              <a:buChar char="•"/>
              <a:defRPr/>
            </a:pPr>
            <a:r>
              <a:rPr kumimoji="0" lang="en-US" altLang="ko-KR" sz="1600" b="1" i="0" u="none"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Destination Port : 2bytes</a:t>
            </a:r>
          </a:p>
          <a:p>
            <a:pPr marL="1200150" lvl="2" indent="-285750">
              <a:lnSpc>
                <a:spcPct val="150000"/>
              </a:lnSpc>
              <a:buFont typeface="Arial" panose="020B0604020202020204" pitchFamily="34" charset="0"/>
              <a:buChar char="•"/>
              <a:defRPr/>
            </a:pPr>
            <a:r>
              <a:rPr kumimoji="0" lang="en-US" altLang="ko-KR" sz="1600" b="1" i="0" u="none"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Length : 2bytes</a:t>
            </a:r>
          </a:p>
          <a:p>
            <a:pPr marL="1200150" lvl="2" indent="-285750">
              <a:lnSpc>
                <a:spcPct val="150000"/>
              </a:lnSpc>
              <a:buFont typeface="Arial" panose="020B0604020202020204" pitchFamily="34" charset="0"/>
              <a:buChar char="•"/>
              <a:defRPr/>
            </a:pPr>
            <a:r>
              <a:rPr kumimoji="0" lang="en-US" altLang="ko-KR" sz="1600" b="1" i="0" u="none"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Checksum: 2bytes</a:t>
            </a:r>
          </a:p>
        </p:txBody>
      </p:sp>
    </p:spTree>
    <p:extLst>
      <p:ext uri="{BB962C8B-B14F-4D97-AF65-F5344CB8AC3E}">
        <p14:creationId xmlns:p14="http://schemas.microsoft.com/office/powerpoint/2010/main" val="131552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654090"/>
          </a:xfrm>
          <a:prstGeom prst="rect">
            <a:avLst/>
          </a:prstGeom>
        </p:spPr>
        <p:txBody>
          <a:bodyPr wrap="square">
            <a:spAutoFit/>
          </a:bodyPr>
          <a:lstStyle/>
          <a:p>
            <a:pPr marL="361950" indent="-361950">
              <a:lnSpc>
                <a:spcPct val="120000"/>
              </a:lnSpc>
              <a:buFont typeface="+mj-lt"/>
              <a:buAutoNum type="arabicPeriod" startAt="3"/>
              <a:defRPr/>
            </a:pPr>
            <a:r>
              <a:rPr lang="en-US" altLang="ko-KR" sz="1600" b="1" i="1" dirty="0">
                <a:solidFill>
                  <a:srgbClr val="4F403F"/>
                </a:solidFill>
              </a:rPr>
              <a:t>The value in the Length field is the length of what? Verify your claim with your captured UDP packet.</a:t>
            </a:r>
          </a:p>
        </p:txBody>
      </p:sp>
      <p:sp>
        <p:nvSpPr>
          <p:cNvPr id="16" name="직사각형 15">
            <a:extLst>
              <a:ext uri="{FF2B5EF4-FFF2-40B4-BE49-F238E27FC236}">
                <a16:creationId xmlns:a16="http://schemas.microsoft.com/office/drawing/2014/main" id="{8FE4782F-6FBB-495C-94C1-6F6D7CB9895F}"/>
              </a:ext>
            </a:extLst>
          </p:cNvPr>
          <p:cNvSpPr/>
          <p:nvPr/>
        </p:nvSpPr>
        <p:spPr>
          <a:xfrm>
            <a:off x="2017900" y="4534421"/>
            <a:ext cx="7064186" cy="1700787"/>
          </a:xfrm>
          <a:prstGeom prst="rect">
            <a:avLst/>
          </a:prstGeom>
        </p:spPr>
        <p:txBody>
          <a:bodyPr wrap="square">
            <a:spAutoFit/>
          </a:bodyPr>
          <a:lstStyle/>
          <a:p>
            <a:pPr marL="742950" lvl="1" indent="-285750">
              <a:lnSpc>
                <a:spcPct val="150000"/>
              </a:lnSpc>
              <a:buFont typeface="Arial" panose="020B0604020202020204" pitchFamily="34" charset="0"/>
              <a:buChar char="•"/>
              <a:defRPr/>
            </a:pPr>
            <a:r>
              <a:rPr lang="en-US" altLang="ko-KR" b="1" dirty="0">
                <a:solidFill>
                  <a:srgbClr val="576067"/>
                </a:solidFill>
              </a:rPr>
              <a:t>Value(In the Length) :</a:t>
            </a:r>
            <a:r>
              <a:rPr lang="ko-KR" altLang="en-US" b="1" dirty="0">
                <a:solidFill>
                  <a:srgbClr val="576067"/>
                </a:solidFill>
              </a:rPr>
              <a:t> </a:t>
            </a:r>
            <a:r>
              <a:rPr lang="en-US" altLang="ko-KR" b="1" dirty="0">
                <a:solidFill>
                  <a:schemeClr val="accent5"/>
                </a:solidFill>
              </a:rPr>
              <a:t>41</a:t>
            </a:r>
          </a:p>
          <a:p>
            <a:pPr marL="742950" lvl="1" indent="-285750">
              <a:lnSpc>
                <a:spcPct val="150000"/>
              </a:lnSpc>
              <a:buFont typeface="Arial" panose="020B0604020202020204" pitchFamily="34" charset="0"/>
              <a:buChar char="•"/>
              <a:defRPr/>
            </a:pPr>
            <a:r>
              <a:rPr lang="en-US" altLang="ko-KR" b="1" dirty="0">
                <a:solidFill>
                  <a:srgbClr val="576067"/>
                </a:solidFill>
              </a:rPr>
              <a:t>The value in the Length field is the length of what</a:t>
            </a:r>
          </a:p>
          <a:p>
            <a:pPr lvl="1">
              <a:lnSpc>
                <a:spcPct val="150000"/>
              </a:lnSpc>
              <a:defRPr/>
            </a:pPr>
            <a:r>
              <a:rPr kumimoji="0" lang="en-US" altLang="ko-KR" sz="1800" b="1"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sym typeface="Wingdings" panose="05000000000000000000" pitchFamily="2" charset="2"/>
              </a:rPr>
              <a:t> </a:t>
            </a:r>
            <a:r>
              <a:rPr lang="en-US" altLang="ko-KR" b="1" dirty="0">
                <a:solidFill>
                  <a:schemeClr val="accent5"/>
                </a:solidFill>
                <a:latin typeface="맑은 고딕" panose="020F0502020204030204"/>
                <a:ea typeface="맑은 고딕" panose="020B0503020000020004" pitchFamily="50" charset="-127"/>
                <a:sym typeface="Wingdings" panose="05000000000000000000" pitchFamily="2" charset="2"/>
              </a:rPr>
              <a:t>UDP Header(8 bytes) </a:t>
            </a:r>
            <a:r>
              <a:rPr lang="en-US" altLang="ko-KR" b="1" dirty="0">
                <a:solidFill>
                  <a:schemeClr val="accent5"/>
                </a:solidFill>
                <a:sym typeface="Wingdings" panose="05000000000000000000" pitchFamily="2" charset="2"/>
              </a:rPr>
              <a:t>+ Remaining Data bytes   </a:t>
            </a:r>
          </a:p>
          <a:p>
            <a:pPr lvl="1">
              <a:lnSpc>
                <a:spcPct val="150000"/>
              </a:lnSpc>
              <a:defRPr/>
            </a:pPr>
            <a:r>
              <a:rPr lang="en-US" altLang="ko-KR" b="1" dirty="0">
                <a:solidFill>
                  <a:schemeClr val="accent5"/>
                </a:solidFill>
                <a:sym typeface="Wingdings" panose="05000000000000000000" pitchFamily="2" charset="2"/>
              </a:rPr>
              <a:t>    encapsulated in the packet</a:t>
            </a:r>
            <a:endParaRPr kumimoji="0" lang="en-US" altLang="ko-KR" sz="1800" b="1"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endParaRPr>
          </a:p>
        </p:txBody>
      </p:sp>
      <p:pic>
        <p:nvPicPr>
          <p:cNvPr id="19" name="그림 18">
            <a:extLst>
              <a:ext uri="{FF2B5EF4-FFF2-40B4-BE49-F238E27FC236}">
                <a16:creationId xmlns:a16="http://schemas.microsoft.com/office/drawing/2014/main" id="{D4A36DBF-4AC7-4401-A821-B09802947F2A}"/>
              </a:ext>
            </a:extLst>
          </p:cNvPr>
          <p:cNvPicPr>
            <a:picLocks noChangeAspect="1"/>
          </p:cNvPicPr>
          <p:nvPr/>
        </p:nvPicPr>
        <p:blipFill rotWithShape="1">
          <a:blip r:embed="rId2"/>
          <a:srcRect l="-1" t="42386" r="52385" b="16501"/>
          <a:stretch/>
        </p:blipFill>
        <p:spPr>
          <a:xfrm>
            <a:off x="2481879" y="1760539"/>
            <a:ext cx="5490546" cy="2666710"/>
          </a:xfrm>
          <a:prstGeom prst="rect">
            <a:avLst/>
          </a:prstGeom>
        </p:spPr>
      </p:pic>
      <p:sp>
        <p:nvSpPr>
          <p:cNvPr id="4" name="타원 3">
            <a:extLst>
              <a:ext uri="{FF2B5EF4-FFF2-40B4-BE49-F238E27FC236}">
                <a16:creationId xmlns:a16="http://schemas.microsoft.com/office/drawing/2014/main" id="{604FA2E2-EF44-4876-9FD4-78EC065CB64B}"/>
              </a:ext>
            </a:extLst>
          </p:cNvPr>
          <p:cNvSpPr/>
          <p:nvPr/>
        </p:nvSpPr>
        <p:spPr>
          <a:xfrm>
            <a:off x="2865280" y="2285922"/>
            <a:ext cx="766857" cy="2574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798492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654090"/>
          </a:xfrm>
          <a:prstGeom prst="rect">
            <a:avLst/>
          </a:prstGeom>
        </p:spPr>
        <p:txBody>
          <a:bodyPr wrap="square">
            <a:spAutoFit/>
          </a:bodyPr>
          <a:lstStyle/>
          <a:p>
            <a:pPr marL="361950" indent="-361950">
              <a:lnSpc>
                <a:spcPct val="120000"/>
              </a:lnSpc>
              <a:buFont typeface="+mj-lt"/>
              <a:buAutoNum type="arabicPeriod" startAt="4"/>
              <a:defRPr/>
            </a:pPr>
            <a:r>
              <a:rPr lang="en-US" altLang="ko-KR" sz="1600" b="1" i="1" dirty="0">
                <a:solidFill>
                  <a:srgbClr val="4F403F"/>
                </a:solidFill>
              </a:rPr>
              <a:t>What is the maximum number of bytes that can be included in a UDP payload? (Hint: the answer to this question can be determined by your answer to 2. above)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4" name="직사각형 3">
            <a:extLst>
              <a:ext uri="{FF2B5EF4-FFF2-40B4-BE49-F238E27FC236}">
                <a16:creationId xmlns:a16="http://schemas.microsoft.com/office/drawing/2014/main" id="{482A2C12-EE23-41D6-90A5-1964609185DF}"/>
              </a:ext>
            </a:extLst>
          </p:cNvPr>
          <p:cNvSpPr/>
          <p:nvPr/>
        </p:nvSpPr>
        <p:spPr>
          <a:xfrm>
            <a:off x="2204414" y="2126426"/>
            <a:ext cx="8636427" cy="3482043"/>
          </a:xfrm>
          <a:prstGeom prst="rect">
            <a:avLst/>
          </a:prstGeom>
        </p:spPr>
        <p:txBody>
          <a:bodyPr wrap="square">
            <a:spAutoFit/>
          </a:bodyPr>
          <a:lstStyle/>
          <a:p>
            <a:pPr marL="285750" indent="-285750">
              <a:buFont typeface="Arial" panose="020B0604020202020204" pitchFamily="34" charset="0"/>
              <a:buChar char="•"/>
            </a:pPr>
            <a:r>
              <a:rPr lang="en-US" altLang="ko-KR" sz="2000" b="1" dirty="0">
                <a:solidFill>
                  <a:srgbClr val="576067"/>
                </a:solidFill>
              </a:rPr>
              <a:t>The maximum number of bytes</a:t>
            </a:r>
          </a:p>
          <a:p>
            <a:pPr marL="285750" indent="-285750">
              <a:buFont typeface="Arial" panose="020B0604020202020204" pitchFamily="34" charset="0"/>
              <a:buChar char="•"/>
            </a:pPr>
            <a:endParaRPr lang="en-US" altLang="ko-KR" sz="1000" b="1" dirty="0">
              <a:solidFill>
                <a:srgbClr val="4F403F"/>
              </a:solidFill>
            </a:endParaRPr>
          </a:p>
          <a:p>
            <a:endParaRPr lang="en-US" altLang="ko-KR" b="1" dirty="0">
              <a:solidFill>
                <a:schemeClr val="accent5"/>
              </a:solidFill>
              <a:sym typeface="Wingdings" panose="05000000000000000000" pitchFamily="2" charset="2"/>
            </a:endParaRPr>
          </a:p>
          <a:p>
            <a:pPr>
              <a:lnSpc>
                <a:spcPct val="200000"/>
              </a:lnSpc>
            </a:pPr>
            <a:r>
              <a:rPr lang="en-US" altLang="ko-KR" b="1" dirty="0">
                <a:solidFill>
                  <a:schemeClr val="accent5"/>
                </a:solidFill>
                <a:sym typeface="Wingdings" panose="05000000000000000000" pitchFamily="2" charset="2"/>
              </a:rPr>
              <a:t></a:t>
            </a:r>
            <a:r>
              <a:rPr lang="en-US" altLang="ko-KR" b="1" dirty="0">
                <a:solidFill>
                  <a:schemeClr val="accent5"/>
                </a:solidFill>
              </a:rPr>
              <a:t>UDP</a:t>
            </a:r>
            <a:r>
              <a:rPr lang="ko-KR" altLang="en-US" b="1" dirty="0">
                <a:solidFill>
                  <a:schemeClr val="accent5"/>
                </a:solidFill>
              </a:rPr>
              <a:t> </a:t>
            </a:r>
            <a:r>
              <a:rPr lang="en-US" altLang="ko-KR" b="1" dirty="0">
                <a:solidFill>
                  <a:schemeClr val="accent5"/>
                </a:solidFill>
              </a:rPr>
              <a:t>Packet</a:t>
            </a:r>
            <a:r>
              <a:rPr lang="ko-KR" altLang="en-US" b="1" dirty="0">
                <a:solidFill>
                  <a:schemeClr val="accent5"/>
                </a:solidFill>
              </a:rPr>
              <a:t>은 </a:t>
            </a:r>
            <a:r>
              <a:rPr lang="en-US" altLang="ko-KR" b="1" dirty="0">
                <a:solidFill>
                  <a:schemeClr val="accent5"/>
                </a:solidFill>
              </a:rPr>
              <a:t>2bytes, </a:t>
            </a:r>
            <a:r>
              <a:rPr lang="ko-KR" altLang="en-US" b="1" dirty="0">
                <a:solidFill>
                  <a:schemeClr val="accent5"/>
                </a:solidFill>
              </a:rPr>
              <a:t>즉 </a:t>
            </a:r>
            <a:r>
              <a:rPr lang="en-US" altLang="ko-KR" b="1" dirty="0">
                <a:solidFill>
                  <a:schemeClr val="accent5"/>
                </a:solidFill>
              </a:rPr>
              <a:t>16bits</a:t>
            </a:r>
            <a:r>
              <a:rPr lang="ko-KR" altLang="en-US" b="1" dirty="0">
                <a:solidFill>
                  <a:schemeClr val="accent5"/>
                </a:solidFill>
              </a:rPr>
              <a:t>의 </a:t>
            </a:r>
            <a:r>
              <a:rPr lang="en-US" altLang="ko-KR" b="1" dirty="0">
                <a:solidFill>
                  <a:schemeClr val="accent5"/>
                </a:solidFill>
              </a:rPr>
              <a:t>Length field</a:t>
            </a:r>
            <a:r>
              <a:rPr lang="ko-KR" altLang="en-US" b="1" dirty="0">
                <a:solidFill>
                  <a:schemeClr val="accent5"/>
                </a:solidFill>
              </a:rPr>
              <a:t>로 표현할 수 있다</a:t>
            </a:r>
            <a:r>
              <a:rPr lang="en-US" altLang="ko-KR" b="1" dirty="0">
                <a:solidFill>
                  <a:schemeClr val="accent5"/>
                </a:solidFill>
              </a:rPr>
              <a:t>. </a:t>
            </a:r>
          </a:p>
          <a:p>
            <a:pPr>
              <a:lnSpc>
                <a:spcPct val="200000"/>
              </a:lnSpc>
            </a:pPr>
            <a:r>
              <a:rPr lang="en-US" altLang="ko-KR" b="1" dirty="0">
                <a:solidFill>
                  <a:schemeClr val="accent5"/>
                </a:solidFill>
              </a:rPr>
              <a:t>   </a:t>
            </a:r>
            <a:r>
              <a:rPr lang="ko-KR" altLang="en-US" b="1" dirty="0">
                <a:solidFill>
                  <a:schemeClr val="accent5"/>
                </a:solidFill>
              </a:rPr>
              <a:t>그러므로 </a:t>
            </a:r>
            <a:r>
              <a:rPr lang="en-US" altLang="ko-KR" b="1" dirty="0">
                <a:solidFill>
                  <a:schemeClr val="accent5"/>
                </a:solidFill>
              </a:rPr>
              <a:t>Packet</a:t>
            </a:r>
            <a:r>
              <a:rPr lang="ko-KR" altLang="en-US" b="1" dirty="0">
                <a:solidFill>
                  <a:schemeClr val="accent5"/>
                </a:solidFill>
              </a:rPr>
              <a:t>의 최대크기는 </a:t>
            </a:r>
            <a:r>
              <a:rPr lang="en-US" altLang="ko-KR" b="1" dirty="0">
                <a:solidFill>
                  <a:schemeClr val="accent5"/>
                </a:solidFill>
              </a:rPr>
              <a:t>2</a:t>
            </a:r>
            <a:r>
              <a:rPr lang="en-US" altLang="ko-KR" b="1" baseline="30000" dirty="0">
                <a:solidFill>
                  <a:schemeClr val="accent5"/>
                </a:solidFill>
              </a:rPr>
              <a:t>16</a:t>
            </a:r>
            <a:r>
              <a:rPr lang="ko-KR" altLang="en-US" b="1" dirty="0">
                <a:solidFill>
                  <a:schemeClr val="accent5"/>
                </a:solidFill>
              </a:rPr>
              <a:t>인 </a:t>
            </a:r>
            <a:r>
              <a:rPr lang="en-US" altLang="ko-KR" b="1" dirty="0">
                <a:solidFill>
                  <a:schemeClr val="accent5"/>
                </a:solidFill>
              </a:rPr>
              <a:t>65536</a:t>
            </a:r>
            <a:r>
              <a:rPr lang="ko-KR" altLang="en-US" b="1" dirty="0">
                <a:solidFill>
                  <a:schemeClr val="accent5"/>
                </a:solidFill>
              </a:rPr>
              <a:t>에서</a:t>
            </a:r>
            <a:r>
              <a:rPr lang="en-US" altLang="ko-KR" b="1" dirty="0">
                <a:solidFill>
                  <a:schemeClr val="accent5"/>
                </a:solidFill>
              </a:rPr>
              <a:t> 1</a:t>
            </a:r>
            <a:r>
              <a:rPr lang="ko-KR" altLang="en-US" b="1" dirty="0">
                <a:solidFill>
                  <a:schemeClr val="accent5"/>
                </a:solidFill>
              </a:rPr>
              <a:t>을 뺀 </a:t>
            </a:r>
            <a:r>
              <a:rPr lang="en-US" altLang="ko-KR" b="1" dirty="0">
                <a:solidFill>
                  <a:schemeClr val="accent5"/>
                </a:solidFill>
              </a:rPr>
              <a:t>65535bytes</a:t>
            </a:r>
            <a:r>
              <a:rPr lang="ko-KR" altLang="en-US" b="1" dirty="0">
                <a:solidFill>
                  <a:schemeClr val="accent5"/>
                </a:solidFill>
              </a:rPr>
              <a:t>이다</a:t>
            </a:r>
            <a:r>
              <a:rPr lang="en-US" altLang="ko-KR" b="1" dirty="0">
                <a:solidFill>
                  <a:schemeClr val="accent5"/>
                </a:solidFill>
              </a:rPr>
              <a:t>. </a:t>
            </a:r>
          </a:p>
          <a:p>
            <a:pPr>
              <a:lnSpc>
                <a:spcPct val="200000"/>
              </a:lnSpc>
            </a:pPr>
            <a:r>
              <a:rPr lang="en-US" altLang="ko-KR" b="1" dirty="0">
                <a:solidFill>
                  <a:schemeClr val="accent5"/>
                </a:solidFill>
              </a:rPr>
              <a:t>   </a:t>
            </a:r>
            <a:r>
              <a:rPr lang="ko-KR" altLang="en-US" b="1" dirty="0">
                <a:solidFill>
                  <a:schemeClr val="accent5"/>
                </a:solidFill>
              </a:rPr>
              <a:t>이 때</a:t>
            </a:r>
            <a:r>
              <a:rPr lang="en-US" altLang="ko-KR" b="1" dirty="0">
                <a:solidFill>
                  <a:schemeClr val="accent5"/>
                </a:solidFill>
              </a:rPr>
              <a:t>, 8bytes</a:t>
            </a:r>
            <a:r>
              <a:rPr lang="ko-KR" altLang="en-US" b="1" dirty="0">
                <a:solidFill>
                  <a:schemeClr val="accent5"/>
                </a:solidFill>
              </a:rPr>
              <a:t>는 이미 </a:t>
            </a:r>
            <a:r>
              <a:rPr lang="en-US" altLang="ko-KR" b="1" dirty="0">
                <a:solidFill>
                  <a:schemeClr val="accent5"/>
                </a:solidFill>
              </a:rPr>
              <a:t>UDP Header</a:t>
            </a:r>
            <a:r>
              <a:rPr lang="ko-KR" altLang="en-US" b="1" dirty="0">
                <a:solidFill>
                  <a:schemeClr val="accent5"/>
                </a:solidFill>
              </a:rPr>
              <a:t>로 사용하고 있다</a:t>
            </a:r>
            <a:r>
              <a:rPr lang="en-US" altLang="ko-KR" b="1" dirty="0">
                <a:solidFill>
                  <a:schemeClr val="accent5"/>
                </a:solidFill>
              </a:rPr>
              <a:t>. </a:t>
            </a:r>
          </a:p>
          <a:p>
            <a:pPr>
              <a:lnSpc>
                <a:spcPct val="200000"/>
              </a:lnSpc>
            </a:pPr>
            <a:r>
              <a:rPr lang="en-US" altLang="ko-KR" b="1" dirty="0">
                <a:solidFill>
                  <a:schemeClr val="accent5"/>
                </a:solidFill>
              </a:rPr>
              <a:t>   </a:t>
            </a:r>
            <a:r>
              <a:rPr lang="ko-KR" altLang="en-US" b="1" dirty="0">
                <a:solidFill>
                  <a:schemeClr val="accent5"/>
                </a:solidFill>
              </a:rPr>
              <a:t>따라서 </a:t>
            </a:r>
            <a:r>
              <a:rPr lang="en-US" altLang="ko-KR" b="1" dirty="0">
                <a:solidFill>
                  <a:schemeClr val="accent5"/>
                </a:solidFill>
              </a:rPr>
              <a:t>UDP payload</a:t>
            </a:r>
            <a:r>
              <a:rPr lang="ko-KR" altLang="en-US" b="1" dirty="0">
                <a:solidFill>
                  <a:schemeClr val="accent5"/>
                </a:solidFill>
              </a:rPr>
              <a:t>의 최대 크기는 </a:t>
            </a:r>
            <a:r>
              <a:rPr lang="en-US" altLang="ko-KR" b="1" dirty="0">
                <a:solidFill>
                  <a:schemeClr val="accent5"/>
                </a:solidFill>
              </a:rPr>
              <a:t>UDP Header 8bytes</a:t>
            </a:r>
            <a:r>
              <a:rPr lang="ko-KR" altLang="en-US" b="1" dirty="0">
                <a:solidFill>
                  <a:schemeClr val="accent5"/>
                </a:solidFill>
              </a:rPr>
              <a:t>를 제외한 </a:t>
            </a:r>
            <a:endParaRPr lang="en-US" altLang="ko-KR" b="1" dirty="0">
              <a:solidFill>
                <a:schemeClr val="accent5"/>
              </a:solidFill>
            </a:endParaRPr>
          </a:p>
          <a:p>
            <a:pPr>
              <a:lnSpc>
                <a:spcPct val="200000"/>
              </a:lnSpc>
            </a:pPr>
            <a:r>
              <a:rPr lang="en-US" altLang="ko-KR" b="1" dirty="0">
                <a:solidFill>
                  <a:schemeClr val="accent5"/>
                </a:solidFill>
              </a:rPr>
              <a:t>   65527bytes</a:t>
            </a:r>
            <a:r>
              <a:rPr lang="ko-KR" altLang="en-US" b="1" dirty="0">
                <a:solidFill>
                  <a:schemeClr val="accent5"/>
                </a:solidFill>
              </a:rPr>
              <a:t>이다</a:t>
            </a:r>
            <a:r>
              <a:rPr lang="en-US" altLang="ko-KR" b="1" dirty="0">
                <a:solidFill>
                  <a:schemeClr val="accent5"/>
                </a:solidFill>
              </a:rPr>
              <a:t>.</a:t>
            </a:r>
            <a:endParaRPr lang="ko-KR" altLang="en-US" dirty="0"/>
          </a:p>
        </p:txBody>
      </p:sp>
    </p:spTree>
    <p:extLst>
      <p:ext uri="{BB962C8B-B14F-4D97-AF65-F5344CB8AC3E}">
        <p14:creationId xmlns:p14="http://schemas.microsoft.com/office/powerpoint/2010/main" val="1642482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00618" y="1608550"/>
            <a:ext cx="667170" cy="369332"/>
          </a:xfrm>
          <a:prstGeom prst="rect">
            <a:avLst/>
          </a:prstGeom>
        </p:spPr>
        <p:txBody>
          <a:bodyPr wrap="none">
            <a:spAutoFit/>
          </a:bodyPr>
          <a:lstStyle/>
          <a:p>
            <a:pPr algn="ctr">
              <a:defRPr/>
            </a:pP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358624"/>
          </a:xfrm>
          <a:prstGeom prst="rect">
            <a:avLst/>
          </a:prstGeom>
        </p:spPr>
        <p:txBody>
          <a:bodyPr wrap="square">
            <a:spAutoFit/>
          </a:bodyPr>
          <a:lstStyle/>
          <a:p>
            <a:pPr marL="361950" indent="-361950">
              <a:lnSpc>
                <a:spcPct val="120000"/>
              </a:lnSpc>
              <a:buFont typeface="+mj-lt"/>
              <a:buAutoNum type="arabicPeriod" startAt="5"/>
              <a:defRPr/>
            </a:pPr>
            <a:r>
              <a:rPr lang="en-US" altLang="ko-KR" sz="1600" b="1" i="1" dirty="0">
                <a:solidFill>
                  <a:srgbClr val="4F403F"/>
                </a:solidFill>
              </a:rPr>
              <a:t>What is the largest possible source port number? (Hint: see the hint in 4.)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6" name="직사각형 15">
            <a:extLst>
              <a:ext uri="{FF2B5EF4-FFF2-40B4-BE49-F238E27FC236}">
                <a16:creationId xmlns:a16="http://schemas.microsoft.com/office/drawing/2014/main" id="{7D543102-7CC8-439D-B2EF-F518FE9CE818}"/>
              </a:ext>
            </a:extLst>
          </p:cNvPr>
          <p:cNvSpPr/>
          <p:nvPr/>
        </p:nvSpPr>
        <p:spPr>
          <a:xfrm>
            <a:off x="2382025" y="1882332"/>
            <a:ext cx="8962250" cy="2404826"/>
          </a:xfrm>
          <a:prstGeom prst="rect">
            <a:avLst/>
          </a:prstGeom>
        </p:spPr>
        <p:txBody>
          <a:bodyPr wrap="square">
            <a:spAutoFit/>
          </a:bodyPr>
          <a:lstStyle/>
          <a:p>
            <a:pPr marL="285750" indent="-285750">
              <a:buFont typeface="Arial" panose="020B0604020202020204" pitchFamily="34" charset="0"/>
              <a:buChar char="•"/>
            </a:pPr>
            <a:r>
              <a:rPr lang="en-US" altLang="ko-KR" sz="2000" b="1" dirty="0">
                <a:solidFill>
                  <a:srgbClr val="576067"/>
                </a:solidFill>
              </a:rPr>
              <a:t>The largest possible source port number</a:t>
            </a:r>
          </a:p>
          <a:p>
            <a:pPr marL="285750" indent="-285750">
              <a:buFont typeface="Arial" panose="020B0604020202020204" pitchFamily="34" charset="0"/>
              <a:buChar char="•"/>
            </a:pPr>
            <a:endParaRPr lang="en-US" altLang="ko-KR" sz="1000" b="1" dirty="0">
              <a:solidFill>
                <a:srgbClr val="4F403F"/>
              </a:solidFill>
            </a:endParaRPr>
          </a:p>
          <a:p>
            <a:endParaRPr lang="en-US" altLang="ko-KR" b="1" dirty="0">
              <a:solidFill>
                <a:schemeClr val="accent5"/>
              </a:solidFill>
              <a:sym typeface="Wingdings" panose="05000000000000000000" pitchFamily="2" charset="2"/>
            </a:endParaRPr>
          </a:p>
          <a:p>
            <a:pPr>
              <a:lnSpc>
                <a:spcPct val="200000"/>
              </a:lnSpc>
            </a:pPr>
            <a:r>
              <a:rPr lang="en-US" altLang="ko-KR" b="1" dirty="0">
                <a:solidFill>
                  <a:schemeClr val="accent5"/>
                </a:solidFill>
                <a:sym typeface="Wingdings" panose="05000000000000000000" pitchFamily="2" charset="2"/>
              </a:rPr>
              <a:t>The largest possible source port number is 2</a:t>
            </a:r>
            <a:r>
              <a:rPr lang="en-US" altLang="ko-KR" b="1" baseline="30000" dirty="0">
                <a:solidFill>
                  <a:schemeClr val="accent5"/>
                </a:solidFill>
                <a:sym typeface="Wingdings" panose="05000000000000000000" pitchFamily="2" charset="2"/>
              </a:rPr>
              <a:t>16</a:t>
            </a:r>
            <a:r>
              <a:rPr lang="en-US" altLang="ko-KR" b="1" dirty="0">
                <a:solidFill>
                  <a:schemeClr val="accent5"/>
                </a:solidFill>
                <a:sym typeface="Wingdings" panose="05000000000000000000" pitchFamily="2" charset="2"/>
              </a:rPr>
              <a:t>-1 = 65535 bytes</a:t>
            </a:r>
          </a:p>
          <a:p>
            <a:pPr>
              <a:lnSpc>
                <a:spcPct val="200000"/>
              </a:lnSpc>
            </a:pPr>
            <a:r>
              <a:rPr lang="en-US" altLang="ko-KR" b="1" dirty="0">
                <a:solidFill>
                  <a:schemeClr val="accent5"/>
                </a:solidFill>
                <a:sym typeface="Wingdings" panose="05000000000000000000" pitchFamily="2" charset="2"/>
              </a:rPr>
              <a:t></a:t>
            </a:r>
            <a:r>
              <a:rPr lang="en-US" altLang="ko-KR" b="1" dirty="0">
                <a:solidFill>
                  <a:schemeClr val="accent5"/>
                </a:solidFill>
              </a:rPr>
              <a:t>UDP</a:t>
            </a:r>
            <a:r>
              <a:rPr lang="ko-KR" altLang="en-US" b="1" dirty="0">
                <a:solidFill>
                  <a:schemeClr val="accent5"/>
                </a:solidFill>
              </a:rPr>
              <a:t> </a:t>
            </a:r>
            <a:r>
              <a:rPr lang="en-US" altLang="ko-KR" b="1" dirty="0">
                <a:solidFill>
                  <a:schemeClr val="accent5"/>
                </a:solidFill>
              </a:rPr>
              <a:t>Packet</a:t>
            </a:r>
            <a:r>
              <a:rPr lang="ko-KR" altLang="en-US" b="1" dirty="0">
                <a:solidFill>
                  <a:schemeClr val="accent5"/>
                </a:solidFill>
              </a:rPr>
              <a:t>은 </a:t>
            </a:r>
            <a:r>
              <a:rPr lang="en-US" altLang="ko-KR" b="1" dirty="0">
                <a:solidFill>
                  <a:schemeClr val="accent5"/>
                </a:solidFill>
              </a:rPr>
              <a:t>2bytes, </a:t>
            </a:r>
            <a:r>
              <a:rPr lang="ko-KR" altLang="en-US" b="1" dirty="0">
                <a:solidFill>
                  <a:schemeClr val="accent5"/>
                </a:solidFill>
              </a:rPr>
              <a:t>즉 </a:t>
            </a:r>
            <a:r>
              <a:rPr lang="en-US" altLang="ko-KR" b="1" dirty="0">
                <a:solidFill>
                  <a:schemeClr val="accent5"/>
                </a:solidFill>
              </a:rPr>
              <a:t>16bits</a:t>
            </a:r>
            <a:r>
              <a:rPr lang="ko-KR" altLang="en-US" b="1" dirty="0">
                <a:solidFill>
                  <a:schemeClr val="accent5"/>
                </a:solidFill>
              </a:rPr>
              <a:t>의 </a:t>
            </a:r>
            <a:r>
              <a:rPr lang="en-US" altLang="ko-KR" b="1" dirty="0">
                <a:solidFill>
                  <a:schemeClr val="accent5"/>
                </a:solidFill>
              </a:rPr>
              <a:t>Source Port number field</a:t>
            </a:r>
            <a:r>
              <a:rPr lang="ko-KR" altLang="en-US" b="1" dirty="0">
                <a:solidFill>
                  <a:schemeClr val="accent5"/>
                </a:solidFill>
              </a:rPr>
              <a:t>로 표현할 수 있다</a:t>
            </a:r>
            <a:r>
              <a:rPr lang="en-US" altLang="ko-KR" b="1" dirty="0">
                <a:solidFill>
                  <a:schemeClr val="accent5"/>
                </a:solidFill>
              </a:rPr>
              <a:t>.    </a:t>
            </a:r>
          </a:p>
          <a:p>
            <a:pPr>
              <a:lnSpc>
                <a:spcPct val="200000"/>
              </a:lnSpc>
            </a:pPr>
            <a:r>
              <a:rPr lang="en-US" altLang="ko-KR" b="1" dirty="0">
                <a:solidFill>
                  <a:schemeClr val="accent5"/>
                </a:solidFill>
              </a:rPr>
              <a:t>   </a:t>
            </a:r>
            <a:r>
              <a:rPr lang="ko-KR" altLang="en-US" b="1" dirty="0">
                <a:solidFill>
                  <a:schemeClr val="accent5"/>
                </a:solidFill>
              </a:rPr>
              <a:t>그러므로 </a:t>
            </a:r>
            <a:r>
              <a:rPr lang="en-US" altLang="ko-KR" b="1" dirty="0">
                <a:solidFill>
                  <a:schemeClr val="accent5"/>
                </a:solidFill>
              </a:rPr>
              <a:t>Packet</a:t>
            </a:r>
            <a:r>
              <a:rPr lang="ko-KR" altLang="en-US" b="1" dirty="0">
                <a:solidFill>
                  <a:schemeClr val="accent5"/>
                </a:solidFill>
              </a:rPr>
              <a:t>의 최대크기는 </a:t>
            </a:r>
            <a:r>
              <a:rPr lang="en-US" altLang="ko-KR" b="1" dirty="0">
                <a:solidFill>
                  <a:schemeClr val="accent5"/>
                </a:solidFill>
              </a:rPr>
              <a:t>2</a:t>
            </a:r>
            <a:r>
              <a:rPr lang="en-US" altLang="ko-KR" b="1" baseline="30000" dirty="0">
                <a:solidFill>
                  <a:schemeClr val="accent5"/>
                </a:solidFill>
              </a:rPr>
              <a:t>16</a:t>
            </a:r>
            <a:r>
              <a:rPr lang="ko-KR" altLang="en-US" b="1" dirty="0">
                <a:solidFill>
                  <a:schemeClr val="accent5"/>
                </a:solidFill>
              </a:rPr>
              <a:t>인 </a:t>
            </a:r>
            <a:r>
              <a:rPr lang="en-US" altLang="ko-KR" b="1" dirty="0">
                <a:solidFill>
                  <a:schemeClr val="accent5"/>
                </a:solidFill>
              </a:rPr>
              <a:t>65536bytes</a:t>
            </a:r>
            <a:r>
              <a:rPr lang="ko-KR" altLang="en-US" b="1" dirty="0">
                <a:solidFill>
                  <a:schemeClr val="accent5"/>
                </a:solidFill>
              </a:rPr>
              <a:t>에서</a:t>
            </a:r>
            <a:r>
              <a:rPr lang="en-US" altLang="ko-KR" b="1" dirty="0">
                <a:solidFill>
                  <a:schemeClr val="accent5"/>
                </a:solidFill>
              </a:rPr>
              <a:t> 1</a:t>
            </a:r>
            <a:r>
              <a:rPr lang="ko-KR" altLang="en-US" b="1" dirty="0">
                <a:solidFill>
                  <a:schemeClr val="accent5"/>
                </a:solidFill>
              </a:rPr>
              <a:t>을 뺀 </a:t>
            </a:r>
            <a:r>
              <a:rPr lang="en-US" altLang="ko-KR" b="1" dirty="0">
                <a:solidFill>
                  <a:schemeClr val="accent5"/>
                </a:solidFill>
              </a:rPr>
              <a:t>65535bytes</a:t>
            </a:r>
            <a:r>
              <a:rPr lang="ko-KR" altLang="en-US" b="1" dirty="0">
                <a:solidFill>
                  <a:schemeClr val="accent5"/>
                </a:solidFill>
              </a:rPr>
              <a:t>이다</a:t>
            </a:r>
            <a:r>
              <a:rPr lang="en-US" altLang="ko-KR" b="1" dirty="0">
                <a:solidFill>
                  <a:schemeClr val="accent5"/>
                </a:solidFill>
              </a:rPr>
              <a:t>.</a:t>
            </a:r>
            <a:endParaRPr lang="ko-KR" altLang="en-US" baseline="30000" dirty="0"/>
          </a:p>
        </p:txBody>
      </p:sp>
    </p:spTree>
    <p:extLst>
      <p:ext uri="{BB962C8B-B14F-4D97-AF65-F5344CB8AC3E}">
        <p14:creationId xmlns:p14="http://schemas.microsoft.com/office/powerpoint/2010/main" val="2316339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949555"/>
          </a:xfrm>
          <a:prstGeom prst="rect">
            <a:avLst/>
          </a:prstGeom>
        </p:spPr>
        <p:txBody>
          <a:bodyPr wrap="square">
            <a:spAutoFit/>
          </a:bodyPr>
          <a:lstStyle/>
          <a:p>
            <a:pPr marL="361950" indent="-361950">
              <a:lnSpc>
                <a:spcPct val="120000"/>
              </a:lnSpc>
              <a:buFont typeface="+mj-lt"/>
              <a:buAutoNum type="arabicPeriod" startAt="6"/>
              <a:defRPr/>
            </a:pPr>
            <a:r>
              <a:rPr lang="en-US" altLang="ko-KR" sz="1600" b="1" i="1" dirty="0">
                <a:solidFill>
                  <a:srgbClr val="4F403F"/>
                </a:solidFill>
              </a:rPr>
              <a:t>What is the protocol number for UDP? Give your answer in both hexadecimal and decimal notation. To answer this question, you’ll need to look into the Protocol field of the IP packet containing this UDP segment.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pic>
        <p:nvPicPr>
          <p:cNvPr id="10" name="그림 9">
            <a:extLst>
              <a:ext uri="{FF2B5EF4-FFF2-40B4-BE49-F238E27FC236}">
                <a16:creationId xmlns:a16="http://schemas.microsoft.com/office/drawing/2014/main" id="{9E66AA39-DA5A-4CDF-815A-1FF2D0E52540}"/>
              </a:ext>
            </a:extLst>
          </p:cNvPr>
          <p:cNvPicPr>
            <a:picLocks noChangeAspect="1"/>
          </p:cNvPicPr>
          <p:nvPr/>
        </p:nvPicPr>
        <p:blipFill rotWithShape="1">
          <a:blip r:embed="rId2"/>
          <a:srcRect t="30021" r="51807" b="16175"/>
          <a:stretch/>
        </p:blipFill>
        <p:spPr>
          <a:xfrm>
            <a:off x="2277764" y="2058866"/>
            <a:ext cx="6641560" cy="4170778"/>
          </a:xfrm>
          <a:prstGeom prst="rect">
            <a:avLst/>
          </a:prstGeom>
        </p:spPr>
      </p:pic>
      <p:sp>
        <p:nvSpPr>
          <p:cNvPr id="9" name="타원 8">
            <a:extLst>
              <a:ext uri="{FF2B5EF4-FFF2-40B4-BE49-F238E27FC236}">
                <a16:creationId xmlns:a16="http://schemas.microsoft.com/office/drawing/2014/main" id="{2DB23459-9306-4AC6-9CC2-907477A9AC07}"/>
              </a:ext>
            </a:extLst>
          </p:cNvPr>
          <p:cNvSpPr/>
          <p:nvPr/>
        </p:nvSpPr>
        <p:spPr>
          <a:xfrm>
            <a:off x="2612328" y="3705927"/>
            <a:ext cx="1912048" cy="34219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8948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Lab 03 : UDP on Wireshark</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949555"/>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mj-lt"/>
              <a:buAutoNum type="arabicPeriod" startAt="6"/>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What is the protocol number for UDP? Give your answer in both hexadecimal and decimal notation. To answer this question, you’ll need to look into the Protocol field of the IP packet containing this UDP segment. </a:t>
            </a:r>
          </a:p>
        </p:txBody>
      </p:sp>
      <p:pic>
        <p:nvPicPr>
          <p:cNvPr id="6" name="그림 5">
            <a:extLst>
              <a:ext uri="{FF2B5EF4-FFF2-40B4-BE49-F238E27FC236}">
                <a16:creationId xmlns:a16="http://schemas.microsoft.com/office/drawing/2014/main" id="{78807584-8FA2-4A7F-9EE6-1917D4DE421F}"/>
              </a:ext>
            </a:extLst>
          </p:cNvPr>
          <p:cNvPicPr>
            <a:picLocks noChangeAspect="1"/>
          </p:cNvPicPr>
          <p:nvPr/>
        </p:nvPicPr>
        <p:blipFill rotWithShape="1">
          <a:blip r:embed="rId2"/>
          <a:srcRect l="3211" t="56600" r="84757" b="40366"/>
          <a:stretch/>
        </p:blipFill>
        <p:spPr>
          <a:xfrm>
            <a:off x="2478312" y="2193229"/>
            <a:ext cx="2604104" cy="369332"/>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7" name="직사각형 6">
            <a:extLst>
              <a:ext uri="{FF2B5EF4-FFF2-40B4-BE49-F238E27FC236}">
                <a16:creationId xmlns:a16="http://schemas.microsoft.com/office/drawing/2014/main" id="{CBB34245-4FAE-4694-A64A-FD9BC6B0E2BD}"/>
              </a:ext>
            </a:extLst>
          </p:cNvPr>
          <p:cNvSpPr/>
          <p:nvPr/>
        </p:nvSpPr>
        <p:spPr>
          <a:xfrm>
            <a:off x="2478312" y="2839319"/>
            <a:ext cx="5378395" cy="1941172"/>
          </a:xfrm>
          <a:prstGeom prst="rect">
            <a:avLst/>
          </a:prstGeom>
        </p:spPr>
        <p:txBody>
          <a:bodyPr wrap="none">
            <a:spAutoFit/>
          </a:bodyPr>
          <a:lstStyle/>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20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rPr>
              <a:t>The protocol number</a:t>
            </a:r>
          </a:p>
          <a:p>
            <a:pPr marL="285750" marR="0" lvl="0" indent="-2857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b="1" dirty="0">
              <a:solidFill>
                <a:srgbClr val="4F403F"/>
              </a:solidFill>
              <a:latin typeface="맑은 고딕" panose="020F0502020204030204"/>
              <a:ea typeface="맑은 고딕" panose="020B0503020000020004" pitchFamily="50" charset="-127"/>
            </a:endParaRPr>
          </a:p>
          <a:p>
            <a:pPr marR="0" lvl="0" algn="l" defTabSz="914400" rtl="0" eaLnBrk="1" fontAlgn="auto" latinLnBrk="1" hangingPunct="1">
              <a:lnSpc>
                <a:spcPct val="250000"/>
              </a:lnSpc>
              <a:spcBef>
                <a:spcPts val="0"/>
              </a:spcBef>
              <a:spcAft>
                <a:spcPts val="0"/>
              </a:spcAft>
              <a:buClrTx/>
              <a:buSzTx/>
              <a:tabLst/>
              <a:defRPr/>
            </a:pP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	Decimal natation(10</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진수</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 : 17</a:t>
            </a:r>
          </a:p>
          <a:p>
            <a:pPr marR="0" lvl="0" algn="l" defTabSz="914400" rtl="0" eaLnBrk="1" fontAlgn="auto" latinLnBrk="1" hangingPunct="1">
              <a:lnSpc>
                <a:spcPct val="250000"/>
              </a:lnSpc>
              <a:spcBef>
                <a:spcPts val="0"/>
              </a:spcBef>
              <a:spcAft>
                <a:spcPts val="0"/>
              </a:spcAft>
              <a:buClrTx/>
              <a:buSzTx/>
              <a:tabLst/>
              <a:defRPr/>
            </a:pP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	Hexadecimal natation(16</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진수</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 : 0x11</a:t>
            </a:r>
            <a:endPar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228240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r>
              <a:rPr lang="en-US" altLang="ko-KR" sz="2400" b="1" i="1" dirty="0">
                <a:solidFill>
                  <a:srgbClr val="4F403F"/>
                </a:solidFill>
              </a:rPr>
              <a:t>Lab 03 : UDP on Wireshark</a:t>
            </a:r>
            <a:endParaRPr lang="ko-KR" altLang="en-US" sz="2400" dirty="0">
              <a:solidFill>
                <a:srgbClr val="4F403F"/>
              </a:solidFill>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1245021"/>
          </a:xfrm>
          <a:prstGeom prst="rect">
            <a:avLst/>
          </a:prstGeom>
        </p:spPr>
        <p:txBody>
          <a:bodyPr wrap="square">
            <a:spAutoFit/>
          </a:bodyPr>
          <a:lstStyle/>
          <a:p>
            <a:pPr marL="361950" indent="-361950">
              <a:lnSpc>
                <a:spcPct val="120000"/>
              </a:lnSpc>
              <a:buFont typeface="+mj-lt"/>
              <a:buAutoNum type="arabicPeriod" startAt="7"/>
              <a:defRPr/>
            </a:pPr>
            <a:r>
              <a:rPr lang="en-US" altLang="ko-KR" sz="1600" b="1" i="1" dirty="0">
                <a:solidFill>
                  <a:srgbClr val="4F403F"/>
                </a:solidFill>
              </a:rPr>
              <a:t>Examine a pair of UDP packets. (your host sends the first UDP packet and the second UDP packet is a reply to this first UDP packet.) (Hint: for a second packet to be sent in response to a first packet, the sender of the first packet should be the destination of the second packet).  Describe the relationship between the port numbers in the two packets. </a:t>
            </a:r>
          </a:p>
        </p:txBody>
      </p:sp>
      <p:pic>
        <p:nvPicPr>
          <p:cNvPr id="6" name="그림 5">
            <a:extLst>
              <a:ext uri="{FF2B5EF4-FFF2-40B4-BE49-F238E27FC236}">
                <a16:creationId xmlns:a16="http://schemas.microsoft.com/office/drawing/2014/main" id="{061422E8-103F-4D8F-AEB8-8B6B21C3F103}"/>
              </a:ext>
            </a:extLst>
          </p:cNvPr>
          <p:cNvPicPr>
            <a:picLocks noChangeAspect="1"/>
          </p:cNvPicPr>
          <p:nvPr/>
        </p:nvPicPr>
        <p:blipFill rotWithShape="1">
          <a:blip r:embed="rId2"/>
          <a:srcRect t="28055" r="22054" b="31035"/>
          <a:stretch/>
        </p:blipFill>
        <p:spPr>
          <a:xfrm>
            <a:off x="1710870" y="2338614"/>
            <a:ext cx="9503214" cy="2805547"/>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CD3BC545-0085-4F41-814C-33B40D99E9C9}"/>
              </a:ext>
            </a:extLst>
          </p:cNvPr>
          <p:cNvSpPr/>
          <p:nvPr/>
        </p:nvSpPr>
        <p:spPr>
          <a:xfrm>
            <a:off x="1907433" y="5139299"/>
            <a:ext cx="3897798" cy="1183466"/>
          </a:xfrm>
          <a:prstGeom prst="rect">
            <a:avLst/>
          </a:prstGeom>
        </p:spPr>
        <p:txBody>
          <a:bodyPr wrap="none">
            <a:spAutoFit/>
          </a:bodyPr>
          <a:lstStyle/>
          <a:p>
            <a:pPr marR="0" lvl="0" algn="l" defTabSz="914400" rtl="0" eaLnBrk="1" fontAlgn="auto" latinLnBrk="1" hangingPunct="1">
              <a:lnSpc>
                <a:spcPct val="10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First UDP 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전송된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p>
          <a:p>
            <a:pPr marR="0" lvl="0" algn="l" defTabSz="914400" rtl="0" eaLnBrk="1" fontAlgn="auto" latinLnBrk="1" hangingPunct="1">
              <a:lnSpc>
                <a:spcPct val="100000"/>
              </a:lnSpc>
              <a:spcBef>
                <a:spcPts val="0"/>
              </a:spcBef>
              <a:spcAft>
                <a:spcPts val="0"/>
              </a:spcAft>
              <a:buClrTx/>
              <a:buSzTx/>
              <a:tabLst/>
              <a:defRPr/>
            </a:pPr>
            <a:endParaRPr kumimoji="0" lang="en-US" altLang="ko-KR" sz="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742950" lvl="1" indent="-285750">
              <a:lnSpc>
                <a:spcPct val="150000"/>
              </a:lnSpc>
              <a:buFont typeface="Arial" panose="020B0604020202020204" pitchFamily="34" charset="0"/>
              <a:buChar char="•"/>
            </a:pPr>
            <a:r>
              <a:rPr kumimoji="0" lang="en-US" altLang="ko-KR" sz="16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Source Port : 50669</a:t>
            </a:r>
            <a:endParaRPr lang="en-US" altLang="ko-KR" sz="1600" b="1" dirty="0">
              <a:solidFill>
                <a:schemeClr val="accent5"/>
              </a:solidFill>
              <a:latin typeface="맑은 고딕" panose="020F0502020204030204"/>
              <a:ea typeface="맑은 고딕" panose="020B0503020000020004" pitchFamily="50" charset="-127"/>
              <a:sym typeface="Wingdings" panose="05000000000000000000" pitchFamily="2" charset="2"/>
            </a:endParaRPr>
          </a:p>
          <a:p>
            <a:pPr marL="742950" lvl="1" indent="-285750">
              <a:lnSpc>
                <a:spcPct val="150000"/>
              </a:lnSpc>
              <a:buFont typeface="Arial" panose="020B0604020202020204" pitchFamily="34" charset="0"/>
              <a:buChar char="•"/>
            </a:pPr>
            <a:r>
              <a:rPr kumimoji="0" lang="en-US" altLang="ko-KR" sz="16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Destination Port : 53</a:t>
            </a:r>
          </a:p>
        </p:txBody>
      </p:sp>
      <p:sp>
        <p:nvSpPr>
          <p:cNvPr id="9" name="직사각형 8">
            <a:extLst>
              <a:ext uri="{FF2B5EF4-FFF2-40B4-BE49-F238E27FC236}">
                <a16:creationId xmlns:a16="http://schemas.microsoft.com/office/drawing/2014/main" id="{61CA8D01-28C8-4908-A9E9-3CFCC031CE8B}"/>
              </a:ext>
            </a:extLst>
          </p:cNvPr>
          <p:cNvSpPr/>
          <p:nvPr/>
        </p:nvSpPr>
        <p:spPr>
          <a:xfrm>
            <a:off x="2030619" y="3143250"/>
            <a:ext cx="1733550" cy="3858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73576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Lab 03 : UDP on Wireshark</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1245021"/>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mj-lt"/>
              <a:buAutoNum type="arabicPeriod" startAt="7"/>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Examine a pair of UDP packets. (your host sends the first UDP packet and the second UDP packet is a reply to this first UDP packet.) (Hint: for a second packet to be sent in response to a first packet, the sender of the first packet should be the destination of the second packet).  Describe the relationship between the port numbers in the two packets. </a:t>
            </a:r>
          </a:p>
        </p:txBody>
      </p:sp>
      <p:pic>
        <p:nvPicPr>
          <p:cNvPr id="7" name="그림 6">
            <a:extLst>
              <a:ext uri="{FF2B5EF4-FFF2-40B4-BE49-F238E27FC236}">
                <a16:creationId xmlns:a16="http://schemas.microsoft.com/office/drawing/2014/main" id="{F34CD2C3-424D-4F67-A07B-5A3657B684EB}"/>
              </a:ext>
            </a:extLst>
          </p:cNvPr>
          <p:cNvPicPr>
            <a:picLocks noChangeAspect="1"/>
          </p:cNvPicPr>
          <p:nvPr/>
        </p:nvPicPr>
        <p:blipFill rotWithShape="1">
          <a:blip r:embed="rId2"/>
          <a:srcRect t="28333" r="25022" b="32639"/>
          <a:stretch/>
        </p:blipFill>
        <p:spPr>
          <a:xfrm>
            <a:off x="1853921" y="2503708"/>
            <a:ext cx="9141403" cy="2676525"/>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9" name="직사각형 18">
            <a:extLst>
              <a:ext uri="{FF2B5EF4-FFF2-40B4-BE49-F238E27FC236}">
                <a16:creationId xmlns:a16="http://schemas.microsoft.com/office/drawing/2014/main" id="{CDED168B-8DAD-4E9F-9785-94E08BCB0C38}"/>
              </a:ext>
            </a:extLst>
          </p:cNvPr>
          <p:cNvSpPr/>
          <p:nvPr/>
        </p:nvSpPr>
        <p:spPr>
          <a:xfrm>
            <a:off x="1965257" y="5564023"/>
            <a:ext cx="7397281" cy="369332"/>
          </a:xfrm>
          <a:prstGeom prst="rect">
            <a:avLst/>
          </a:prstGeom>
        </p:spPr>
        <p:txBody>
          <a:bodyPr wrap="none">
            <a:spAutoFit/>
          </a:bodyPr>
          <a:lstStyle/>
          <a:p>
            <a:pPr marR="0" lvl="0" algn="l" defTabSz="914400" rtl="0" eaLnBrk="1" fontAlgn="auto" latinLnBrk="1" hangingPunct="1">
              <a:lnSpc>
                <a:spcPct val="100000"/>
              </a:lnSpc>
              <a:spcBef>
                <a:spcPts val="0"/>
              </a:spcBef>
              <a:spcAft>
                <a:spcPts val="0"/>
              </a:spcAft>
              <a:buClrTx/>
              <a:buSzTx/>
              <a:tabLst/>
              <a:defRPr/>
            </a:pP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First UDP Packet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의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Response</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인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Second UDP Packet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은 </a:t>
            </a:r>
            <a:r>
              <a:rPr kumimoji="0" lang="en-US" altLang="ko-KR" sz="1800" b="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sym typeface="Wingdings" panose="05000000000000000000" pitchFamily="2" charset="2"/>
              </a:rPr>
              <a:t>11</a:t>
            </a:r>
            <a:r>
              <a:rPr kumimoji="0" lang="ko-KR" altLang="en-US" sz="1800" b="1" u="none" strike="noStrike" kern="1200" cap="none" spc="0" normalizeH="0" baseline="0" noProof="0" dirty="0">
                <a:ln>
                  <a:noFill/>
                </a:ln>
                <a:solidFill>
                  <a:srgbClr val="64504F"/>
                </a:solidFill>
                <a:effectLst/>
                <a:uLnTx/>
                <a:uFillTx/>
                <a:latin typeface="맑은 고딕" panose="020F0502020204030204"/>
                <a:ea typeface="맑은 고딕" panose="020B0503020000020004" pitchFamily="50" charset="-127"/>
                <a:cs typeface="+mn-cs"/>
                <a:sym typeface="Wingdings" panose="05000000000000000000" pitchFamily="2" charset="2"/>
              </a:rPr>
              <a:t>번</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이다</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a:t>
            </a:r>
          </a:p>
        </p:txBody>
      </p:sp>
    </p:spTree>
    <p:extLst>
      <p:ext uri="{BB962C8B-B14F-4D97-AF65-F5344CB8AC3E}">
        <p14:creationId xmlns:p14="http://schemas.microsoft.com/office/powerpoint/2010/main" val="949759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499016" y="1608550"/>
            <a:ext cx="670376" cy="369332"/>
          </a:xfrm>
          <a:prstGeom prst="rect">
            <a:avLst/>
          </a:prstGeom>
        </p:spPr>
        <p:txBody>
          <a:bodyPr wrap="none">
            <a:spAutoFit/>
          </a:bodyPr>
          <a:lstStyle/>
          <a:p>
            <a:pPr algn="ctr"/>
            <a:r>
              <a:rPr lang="en-US" altLang="ko-KR" b="1" dirty="0">
                <a:solidFill>
                  <a:prstClr val="white"/>
                </a:solidFill>
              </a:rPr>
              <a:t>UDP</a:t>
            </a:r>
            <a:endParaRPr lang="ko-KR" altLang="en-US" b="1" dirty="0">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Lab 03 : UDP on Wireshark</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1245021"/>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mj-lt"/>
              <a:buAutoNum type="arabicPeriod" startAt="7"/>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Examine a pair of UDP packets. (your host sends the first UDP packet and the second UDP packet is a reply to this first UDP packet.) (Hint: for a second packet to be sent in response to a first packet, the sender of the first packet should be the destination of the second packet).  Describe the relationship between the port numbers in the two packets. </a:t>
            </a:r>
          </a:p>
        </p:txBody>
      </p:sp>
      <p:pic>
        <p:nvPicPr>
          <p:cNvPr id="7" name="그림 6">
            <a:extLst>
              <a:ext uri="{FF2B5EF4-FFF2-40B4-BE49-F238E27FC236}">
                <a16:creationId xmlns:a16="http://schemas.microsoft.com/office/drawing/2014/main" id="{837062BB-546D-4AE2-B564-06594E6593B9}"/>
              </a:ext>
            </a:extLst>
          </p:cNvPr>
          <p:cNvPicPr>
            <a:picLocks noChangeAspect="1"/>
          </p:cNvPicPr>
          <p:nvPr/>
        </p:nvPicPr>
        <p:blipFill rotWithShape="1">
          <a:blip r:embed="rId2"/>
          <a:srcRect t="28194" r="8199" b="32894"/>
          <a:stretch/>
        </p:blipFill>
        <p:spPr>
          <a:xfrm>
            <a:off x="1924692" y="2527931"/>
            <a:ext cx="9195872" cy="2192555"/>
          </a:xfrm>
          <a:prstGeom prst="rect">
            <a:avLst/>
          </a:prstGeom>
        </p:spPr>
      </p:pic>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4D763F62-6CC5-4F45-B69A-418AC69E9614}"/>
              </a:ext>
            </a:extLst>
          </p:cNvPr>
          <p:cNvSpPr/>
          <p:nvPr/>
        </p:nvSpPr>
        <p:spPr>
          <a:xfrm>
            <a:off x="2007423" y="4838015"/>
            <a:ext cx="4220258" cy="1183466"/>
          </a:xfrm>
          <a:prstGeom prst="rect">
            <a:avLst/>
          </a:prstGeom>
        </p:spPr>
        <p:txBody>
          <a:bodyPr wrap="none">
            <a:spAutoFit/>
          </a:bodyPr>
          <a:lstStyle/>
          <a:p>
            <a:pPr marR="0" lvl="0" algn="l" defTabSz="914400" rtl="0" eaLnBrk="1" fontAlgn="auto" latinLnBrk="1" hangingPunct="1">
              <a:lnSpc>
                <a:spcPct val="10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Second UDP 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응답된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p>
          <a:p>
            <a:pPr marR="0" lvl="0" algn="l" defTabSz="914400" rtl="0" eaLnBrk="1" fontAlgn="auto" latinLnBrk="1" hangingPunct="1">
              <a:lnSpc>
                <a:spcPct val="100000"/>
              </a:lnSpc>
              <a:spcBef>
                <a:spcPts val="0"/>
              </a:spcBef>
              <a:spcAft>
                <a:spcPts val="0"/>
              </a:spcAft>
              <a:buClrTx/>
              <a:buSzTx/>
              <a:tabLst/>
              <a:defRPr/>
            </a:pPr>
            <a:endParaRPr kumimoji="0" lang="en-US" altLang="ko-KR" sz="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742950" lvl="1" indent="-285750">
              <a:lnSpc>
                <a:spcPct val="150000"/>
              </a:lnSpc>
              <a:buFont typeface="Arial" panose="020B0604020202020204" pitchFamily="34" charset="0"/>
              <a:buChar char="•"/>
            </a:pPr>
            <a:r>
              <a:rPr kumimoji="0" lang="en-US" altLang="ko-KR" sz="16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Source Port : 53</a:t>
            </a:r>
            <a:endParaRPr lang="en-US" altLang="ko-KR" sz="1600" b="1" dirty="0">
              <a:solidFill>
                <a:schemeClr val="accent5"/>
              </a:solidFill>
              <a:latin typeface="맑은 고딕" panose="020F0502020204030204"/>
              <a:ea typeface="맑은 고딕" panose="020B0503020000020004" pitchFamily="50" charset="-127"/>
              <a:sym typeface="Wingdings" panose="05000000000000000000" pitchFamily="2" charset="2"/>
            </a:endParaRPr>
          </a:p>
          <a:p>
            <a:pPr marL="742950" lvl="1" indent="-285750">
              <a:lnSpc>
                <a:spcPct val="150000"/>
              </a:lnSpc>
              <a:buFont typeface="Arial" panose="020B0604020202020204" pitchFamily="34" charset="0"/>
              <a:buChar char="•"/>
            </a:pPr>
            <a:r>
              <a:rPr kumimoji="0" lang="en-US" altLang="ko-KR" sz="16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Destination Port : 50669</a:t>
            </a:r>
          </a:p>
        </p:txBody>
      </p:sp>
      <p:sp>
        <p:nvSpPr>
          <p:cNvPr id="19" name="직사각형 18">
            <a:extLst>
              <a:ext uri="{FF2B5EF4-FFF2-40B4-BE49-F238E27FC236}">
                <a16:creationId xmlns:a16="http://schemas.microsoft.com/office/drawing/2014/main" id="{7CD33C01-5AFF-4245-95A4-E036D98DEB84}"/>
              </a:ext>
            </a:extLst>
          </p:cNvPr>
          <p:cNvSpPr/>
          <p:nvPr/>
        </p:nvSpPr>
        <p:spPr>
          <a:xfrm>
            <a:off x="2240169" y="3133725"/>
            <a:ext cx="1550781" cy="3668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1209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3E1E1"/>
        </a:solidFill>
        <a:effectLst/>
      </p:bgPr>
    </p:bg>
    <p:spTree>
      <p:nvGrpSpPr>
        <p:cNvPr id="1" name=""/>
        <p:cNvGrpSpPr/>
        <p:nvPr/>
      </p:nvGrpSpPr>
      <p:grpSpPr>
        <a:xfrm>
          <a:off x="0" y="0"/>
          <a:ext cx="0" cy="0"/>
          <a:chOff x="0" y="0"/>
          <a:chExt cx="0" cy="0"/>
        </a:xfrm>
      </p:grpSpPr>
      <p:grpSp>
        <p:nvGrpSpPr>
          <p:cNvPr id="2" name="그룹 1"/>
          <p:cNvGrpSpPr/>
          <p:nvPr/>
        </p:nvGrpSpPr>
        <p:grpSpPr>
          <a:xfrm>
            <a:off x="555666" y="238380"/>
            <a:ext cx="11177155" cy="6369777"/>
            <a:chOff x="876300" y="368300"/>
            <a:chExt cx="10629900" cy="6057900"/>
          </a:xfrm>
          <a:solidFill>
            <a:srgbClr val="64504F"/>
          </a:solidFill>
        </p:grpSpPr>
        <p:sp>
          <p:nvSpPr>
            <p:cNvPr id="5" name="직사각형 4"/>
            <p:cNvSpPr/>
            <p:nvPr/>
          </p:nvSpPr>
          <p:spPr>
            <a:xfrm>
              <a:off x="6464300" y="368300"/>
              <a:ext cx="5041900" cy="6057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7" name="자유형 16"/>
            <p:cNvSpPr/>
            <p:nvPr/>
          </p:nvSpPr>
          <p:spPr>
            <a:xfrm rot="16200000">
              <a:off x="641350" y="603250"/>
              <a:ext cx="6057900" cy="5588000"/>
            </a:xfrm>
            <a:custGeom>
              <a:avLst/>
              <a:gdLst>
                <a:gd name="connsiteX0" fmla="*/ 6057900 w 6057900"/>
                <a:gd name="connsiteY0" fmla="*/ 546100 h 5588000"/>
                <a:gd name="connsiteX1" fmla="*/ 6057900 w 6057900"/>
                <a:gd name="connsiteY1" fmla="*/ 5588000 h 5588000"/>
                <a:gd name="connsiteX2" fmla="*/ 0 w 6057900"/>
                <a:gd name="connsiteY2" fmla="*/ 5588000 h 5588000"/>
                <a:gd name="connsiteX3" fmla="*/ 0 w 6057900"/>
                <a:gd name="connsiteY3" fmla="*/ 546100 h 5588000"/>
                <a:gd name="connsiteX4" fmla="*/ 2946400 w 6057900"/>
                <a:gd name="connsiteY4" fmla="*/ 546100 h 5588000"/>
                <a:gd name="connsiteX5" fmla="*/ 3146426 w 6057900"/>
                <a:gd name="connsiteY5" fmla="*/ 0 h 5588000"/>
                <a:gd name="connsiteX6" fmla="*/ 5857874 w 6057900"/>
                <a:gd name="connsiteY6" fmla="*/ 0 h 55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7900" h="5588000">
                  <a:moveTo>
                    <a:pt x="6057900" y="546100"/>
                  </a:moveTo>
                  <a:lnTo>
                    <a:pt x="6057900" y="5588000"/>
                  </a:lnTo>
                  <a:lnTo>
                    <a:pt x="0" y="5588000"/>
                  </a:lnTo>
                  <a:lnTo>
                    <a:pt x="0" y="546100"/>
                  </a:lnTo>
                  <a:lnTo>
                    <a:pt x="2946400" y="546100"/>
                  </a:lnTo>
                  <a:lnTo>
                    <a:pt x="3146426" y="0"/>
                  </a:lnTo>
                  <a:lnTo>
                    <a:pt x="5857874" y="0"/>
                  </a:lnTo>
                  <a:close/>
                </a:path>
              </a:pathLst>
            </a:custGeom>
            <a:grpFill/>
            <a:ln>
              <a:noFill/>
            </a:ln>
            <a:effectLst>
              <a:outerShdw blurRad="190500" dist="635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8" name="직사각형 7"/>
            <p:cNvSpPr/>
            <p:nvPr/>
          </p:nvSpPr>
          <p:spPr>
            <a:xfrm>
              <a:off x="6421902" y="368300"/>
              <a:ext cx="72000" cy="6057900"/>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9" name="직사각형 28"/>
            <p:cNvSpPr/>
            <p:nvPr/>
          </p:nvSpPr>
          <p:spPr>
            <a:xfrm>
              <a:off x="1409187" y="383722"/>
              <a:ext cx="36000" cy="3096078"/>
            </a:xfrm>
            <a:prstGeom prst="rect">
              <a:avLst/>
            </a:prstGeom>
            <a:solidFill>
              <a:srgbClr val="4F4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grpSp>
        <p:nvGrpSpPr>
          <p:cNvPr id="30" name="그룹 29"/>
          <p:cNvGrpSpPr/>
          <p:nvPr/>
        </p:nvGrpSpPr>
        <p:grpSpPr>
          <a:xfrm>
            <a:off x="1295255" y="223899"/>
            <a:ext cx="10216431" cy="6204934"/>
            <a:chOff x="6676455" y="354528"/>
            <a:chExt cx="4675932" cy="5901128"/>
          </a:xfrm>
          <a:effectLst>
            <a:outerShdw blurRad="50800" dist="38100" dir="13500000" algn="br" rotWithShape="0">
              <a:prstClr val="black">
                <a:alpha val="40000"/>
              </a:prstClr>
            </a:outerShdw>
          </a:effectLst>
        </p:grpSpPr>
        <p:sp>
          <p:nvSpPr>
            <p:cNvPr id="31" name="직사각형 30"/>
            <p:cNvSpPr/>
            <p:nvPr/>
          </p:nvSpPr>
          <p:spPr>
            <a:xfrm rot="21540000">
              <a:off x="6676455" y="638629"/>
              <a:ext cx="4617589" cy="5548086"/>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2" name="직사각형 31"/>
            <p:cNvSpPr/>
            <p:nvPr/>
          </p:nvSpPr>
          <p:spPr>
            <a:xfrm>
              <a:off x="6734798" y="533399"/>
              <a:ext cx="4617589" cy="5722257"/>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33" name="자유형 32"/>
            <p:cNvSpPr/>
            <p:nvPr/>
          </p:nvSpPr>
          <p:spPr>
            <a:xfrm>
              <a:off x="7034349" y="354528"/>
              <a:ext cx="183576" cy="597972"/>
            </a:xfrm>
            <a:custGeom>
              <a:avLst/>
              <a:gdLst>
                <a:gd name="connsiteX0" fmla="*/ 189576 w 379152"/>
                <a:gd name="connsiteY0" fmla="*/ 0 h 1235034"/>
                <a:gd name="connsiteX1" fmla="*/ 379152 w 379152"/>
                <a:gd name="connsiteY1" fmla="*/ 189576 h 1235034"/>
                <a:gd name="connsiteX2" fmla="*/ 379152 w 379152"/>
                <a:gd name="connsiteY2" fmla="*/ 1045458 h 1235034"/>
                <a:gd name="connsiteX3" fmla="*/ 189576 w 379152"/>
                <a:gd name="connsiteY3" fmla="*/ 1235034 h 1235034"/>
                <a:gd name="connsiteX4" fmla="*/ 0 w 379152"/>
                <a:gd name="connsiteY4" fmla="*/ 1045458 h 1235034"/>
                <a:gd name="connsiteX5" fmla="*/ 0 w 379152"/>
                <a:gd name="connsiteY5" fmla="*/ 491878 h 1235034"/>
                <a:gd name="connsiteX6" fmla="*/ 45576 w 379152"/>
                <a:gd name="connsiteY6" fmla="*/ 491878 h 1235034"/>
                <a:gd name="connsiteX7" fmla="*/ 45576 w 379152"/>
                <a:gd name="connsiteY7" fmla="*/ 1025585 h 1235034"/>
                <a:gd name="connsiteX8" fmla="*/ 189576 w 379152"/>
                <a:gd name="connsiteY8" fmla="*/ 1169585 h 1235034"/>
                <a:gd name="connsiteX9" fmla="*/ 333576 w 379152"/>
                <a:gd name="connsiteY9" fmla="*/ 1025585 h 1235034"/>
                <a:gd name="connsiteX10" fmla="*/ 333576 w 379152"/>
                <a:gd name="connsiteY10" fmla="*/ 209448 h 1235034"/>
                <a:gd name="connsiteX11" fmla="*/ 189576 w 379152"/>
                <a:gd name="connsiteY11" fmla="*/ 65448 h 1235034"/>
                <a:gd name="connsiteX12" fmla="*/ 45576 w 379152"/>
                <a:gd name="connsiteY12" fmla="*/ 209448 h 1235034"/>
                <a:gd name="connsiteX13" fmla="*/ 45576 w 379152"/>
                <a:gd name="connsiteY13" fmla="*/ 341477 h 1235034"/>
                <a:gd name="connsiteX14" fmla="*/ 0 w 379152"/>
                <a:gd name="connsiteY14" fmla="*/ 341477 h 1235034"/>
                <a:gd name="connsiteX15" fmla="*/ 0 w 379152"/>
                <a:gd name="connsiteY15" fmla="*/ 189576 h 1235034"/>
                <a:gd name="connsiteX16" fmla="*/ 189576 w 379152"/>
                <a:gd name="connsiteY16" fmla="*/ 0 h 123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9152" h="1235034">
                  <a:moveTo>
                    <a:pt x="189576" y="0"/>
                  </a:moveTo>
                  <a:cubicBezTo>
                    <a:pt x="294276" y="0"/>
                    <a:pt x="379152" y="84876"/>
                    <a:pt x="379152" y="189576"/>
                  </a:cubicBezTo>
                  <a:lnTo>
                    <a:pt x="379152" y="1045458"/>
                  </a:lnTo>
                  <a:cubicBezTo>
                    <a:pt x="379152" y="1150158"/>
                    <a:pt x="294276" y="1235034"/>
                    <a:pt x="189576" y="1235034"/>
                  </a:cubicBezTo>
                  <a:cubicBezTo>
                    <a:pt x="84876" y="1235034"/>
                    <a:pt x="0" y="1150158"/>
                    <a:pt x="0" y="1045458"/>
                  </a:cubicBezTo>
                  <a:lnTo>
                    <a:pt x="0" y="491878"/>
                  </a:lnTo>
                  <a:lnTo>
                    <a:pt x="45576" y="491878"/>
                  </a:lnTo>
                  <a:lnTo>
                    <a:pt x="45576" y="1025585"/>
                  </a:lnTo>
                  <a:cubicBezTo>
                    <a:pt x="45576" y="1105114"/>
                    <a:pt x="110047" y="1169585"/>
                    <a:pt x="189576" y="1169585"/>
                  </a:cubicBezTo>
                  <a:cubicBezTo>
                    <a:pt x="269105" y="1169585"/>
                    <a:pt x="333576" y="1105114"/>
                    <a:pt x="333576" y="1025585"/>
                  </a:cubicBezTo>
                  <a:lnTo>
                    <a:pt x="333576" y="209448"/>
                  </a:lnTo>
                  <a:cubicBezTo>
                    <a:pt x="333576" y="129919"/>
                    <a:pt x="269105" y="65448"/>
                    <a:pt x="189576" y="65448"/>
                  </a:cubicBezTo>
                  <a:cubicBezTo>
                    <a:pt x="110047" y="65448"/>
                    <a:pt x="45576" y="129919"/>
                    <a:pt x="45576" y="209448"/>
                  </a:cubicBezTo>
                  <a:lnTo>
                    <a:pt x="45576" y="341477"/>
                  </a:lnTo>
                  <a:lnTo>
                    <a:pt x="0" y="341477"/>
                  </a:lnTo>
                  <a:lnTo>
                    <a:pt x="0" y="189576"/>
                  </a:lnTo>
                  <a:cubicBezTo>
                    <a:pt x="0" y="84876"/>
                    <a:pt x="84876" y="0"/>
                    <a:pt x="18957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8" name="직사각형 37">
            <a:extLst>
              <a:ext uri="{FF2B5EF4-FFF2-40B4-BE49-F238E27FC236}">
                <a16:creationId xmlns:a16="http://schemas.microsoft.com/office/drawing/2014/main" id="{B75F8010-93C3-4896-BF6D-62539C8D7008}"/>
              </a:ext>
            </a:extLst>
          </p:cNvPr>
          <p:cNvSpPr/>
          <p:nvPr/>
        </p:nvSpPr>
        <p:spPr>
          <a:xfrm rot="5400000">
            <a:off x="500618" y="1608550"/>
            <a:ext cx="667170" cy="369332"/>
          </a:xfrm>
          <a:prstGeom prst="rect">
            <a:avLst/>
          </a:prstGeom>
        </p:spPr>
        <p:txBody>
          <a:bodyPr wrap="none">
            <a:spAutoFit/>
          </a:bodyPr>
          <a:lstStyle/>
          <a:p>
            <a:pPr algn="ctr">
              <a:defRPr/>
            </a:pPr>
            <a:r>
              <a:rPr lang="en-US" altLang="ko-KR" b="1">
                <a:solidFill>
                  <a:prstClr val="white"/>
                </a:solidFill>
              </a:rPr>
              <a:t>UDP</a:t>
            </a:r>
            <a:endParaRPr lang="ko-KR" altLang="en-US" b="1">
              <a:solidFill>
                <a:prstClr val="white"/>
              </a:solidFill>
            </a:endParaRPr>
          </a:p>
        </p:txBody>
      </p:sp>
      <p:sp>
        <p:nvSpPr>
          <p:cNvPr id="22" name="직사각형 21">
            <a:extLst>
              <a:ext uri="{FF2B5EF4-FFF2-40B4-BE49-F238E27FC236}">
                <a16:creationId xmlns:a16="http://schemas.microsoft.com/office/drawing/2014/main" id="{7BF7E293-511F-450B-A80B-245FBBA48B3E}"/>
              </a:ext>
            </a:extLst>
          </p:cNvPr>
          <p:cNvSpPr/>
          <p:nvPr/>
        </p:nvSpPr>
        <p:spPr>
          <a:xfrm>
            <a:off x="2612327" y="624594"/>
            <a:ext cx="8463686"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4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Lab 03 : UDP on Wireshark</a:t>
            </a:r>
            <a:endParaRPr kumimoji="0" lang="ko-KR" altLang="en-US" sz="2400" b="0" i="0"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C923B609-40DE-4717-B73A-444203421A9A}"/>
              </a:ext>
            </a:extLst>
          </p:cNvPr>
          <p:cNvSpPr/>
          <p:nvPr/>
        </p:nvSpPr>
        <p:spPr>
          <a:xfrm>
            <a:off x="2008472" y="1109311"/>
            <a:ext cx="9503214" cy="1245021"/>
          </a:xfrm>
          <a:prstGeom prst="rect">
            <a:avLst/>
          </a:prstGeom>
        </p:spPr>
        <p:txBody>
          <a:bodyPr wrap="square">
            <a:spAutoFit/>
          </a:bodyPr>
          <a:lstStyle/>
          <a:p>
            <a:pPr marL="361950" marR="0" lvl="0" indent="-361950" algn="l" defTabSz="914400" rtl="0" eaLnBrk="1" fontAlgn="auto" latinLnBrk="1" hangingPunct="1">
              <a:lnSpc>
                <a:spcPct val="120000"/>
              </a:lnSpc>
              <a:spcBef>
                <a:spcPts val="0"/>
              </a:spcBef>
              <a:spcAft>
                <a:spcPts val="0"/>
              </a:spcAft>
              <a:buClrTx/>
              <a:buSzTx/>
              <a:buFont typeface="+mj-lt"/>
              <a:buAutoNum type="arabicPeriod" startAt="7"/>
              <a:tabLst/>
              <a:defRPr/>
            </a:pPr>
            <a:r>
              <a:rPr kumimoji="0" lang="en-US" altLang="ko-KR" sz="1600" b="1" i="1" u="none" strike="noStrike" kern="1200" cap="none" spc="0" normalizeH="0" baseline="0" noProof="0" dirty="0">
                <a:ln>
                  <a:noFill/>
                </a:ln>
                <a:solidFill>
                  <a:srgbClr val="4F403F"/>
                </a:solidFill>
                <a:effectLst/>
                <a:uLnTx/>
                <a:uFillTx/>
                <a:latin typeface="맑은 고딕" panose="020F0502020204030204"/>
                <a:ea typeface="맑은 고딕" panose="020B0503020000020004" pitchFamily="50" charset="-127"/>
                <a:cs typeface="+mn-cs"/>
              </a:rPr>
              <a:t>Examine a pair of UDP packets. (your host sends the first UDP packet and the second UDP packet is a reply to this first UDP packet.) (Hint: for a second packet to be sent in response to a first packet, the sender of the first packet should be the destination of the second packet).  Describe the relationship between the port numbers in the two packets. </a:t>
            </a:r>
          </a:p>
        </p:txBody>
      </p:sp>
      <p:sp>
        <p:nvSpPr>
          <p:cNvPr id="15" name="자유형 14"/>
          <p:cNvSpPr/>
          <p:nvPr/>
        </p:nvSpPr>
        <p:spPr>
          <a:xfrm>
            <a:off x="9362538" y="4161473"/>
            <a:ext cx="2370283" cy="2446684"/>
          </a:xfrm>
          <a:custGeom>
            <a:avLst/>
            <a:gdLst>
              <a:gd name="connsiteX0" fmla="*/ 2254229 w 2254229"/>
              <a:gd name="connsiteY0" fmla="*/ 0 h 2326889"/>
              <a:gd name="connsiteX1" fmla="*/ 2254229 w 2254229"/>
              <a:gd name="connsiteY1" fmla="*/ 2326889 h 2326889"/>
              <a:gd name="connsiteX2" fmla="*/ 0 w 2254229"/>
              <a:gd name="connsiteY2" fmla="*/ 2326889 h 2326889"/>
              <a:gd name="connsiteX3" fmla="*/ 9753 w 2254229"/>
              <a:gd name="connsiteY3" fmla="*/ 2120883 h 2326889"/>
              <a:gd name="connsiteX4" fmla="*/ 2109978 w 2254229"/>
              <a:gd name="connsiteY4" fmla="*/ 7284 h 2326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229" h="2326889">
                <a:moveTo>
                  <a:pt x="2254229" y="0"/>
                </a:moveTo>
                <a:lnTo>
                  <a:pt x="2254229" y="2326889"/>
                </a:lnTo>
                <a:lnTo>
                  <a:pt x="0" y="2326889"/>
                </a:lnTo>
                <a:lnTo>
                  <a:pt x="9753" y="2120883"/>
                </a:lnTo>
                <a:cubicBezTo>
                  <a:pt x="115745" y="1007300"/>
                  <a:pt x="998418" y="120168"/>
                  <a:pt x="2109978" y="7284"/>
                </a:cubicBezTo>
                <a:close/>
              </a:path>
            </a:pathLst>
          </a:custGeom>
          <a:solidFill>
            <a:srgbClr val="4F403F"/>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9" name="직사각형 18">
            <a:extLst>
              <a:ext uri="{FF2B5EF4-FFF2-40B4-BE49-F238E27FC236}">
                <a16:creationId xmlns:a16="http://schemas.microsoft.com/office/drawing/2014/main" id="{B8D6D734-A266-4776-B4C0-087AA63759F7}"/>
              </a:ext>
            </a:extLst>
          </p:cNvPr>
          <p:cNvSpPr/>
          <p:nvPr/>
        </p:nvSpPr>
        <p:spPr>
          <a:xfrm>
            <a:off x="1551815" y="2368812"/>
            <a:ext cx="9980208" cy="1666162"/>
          </a:xfrm>
          <a:prstGeom prst="rect">
            <a:avLst/>
          </a:prstGeom>
        </p:spPr>
        <p:txBody>
          <a:bodyPr wrap="square">
            <a:spAutoFit/>
          </a:bodyPr>
          <a:lstStyle/>
          <a:p>
            <a:pPr marL="285750" lvl="0" indent="-285750">
              <a:lnSpc>
                <a:spcPct val="200000"/>
              </a:lnSpc>
              <a:buFont typeface="Arial" panose="020B0604020202020204" pitchFamily="34" charset="0"/>
              <a:buChar char="•"/>
            </a:pP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First 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인 전송된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의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Port </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번호와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Second 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인 응답된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Port </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번호 간의 관계 </a:t>
            </a:r>
            <a:endPar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endParaRPr>
          </a:p>
          <a:p>
            <a:pPr marL="285750" lvl="0" indent="-285750">
              <a:lnSpc>
                <a:spcPct val="200000"/>
              </a:lnSpc>
              <a:buFont typeface="Wingdings" panose="05000000000000000000" pitchFamily="2" charset="2"/>
              <a:buChar char="à"/>
            </a:pP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전송된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의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Source Port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가 응답된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의 </a:t>
            </a:r>
            <a:r>
              <a:rPr lang="en-US" altLang="ko-KR" b="1" dirty="0">
                <a:solidFill>
                  <a:schemeClr val="accent5"/>
                </a:solidFill>
                <a:sym typeface="Wingdings" panose="05000000000000000000" pitchFamily="2" charset="2"/>
              </a:rPr>
              <a:t>Destination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Port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가 되고</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 </a:t>
            </a:r>
          </a:p>
          <a:p>
            <a:pPr lvl="0">
              <a:lnSpc>
                <a:spcPct val="200000"/>
              </a:lnSpc>
            </a:pP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    전송된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의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Destination Port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가 응답된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의 </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Source Port</a:t>
            </a:r>
            <a:r>
              <a:rPr kumimoji="0" lang="ko-KR" altLang="en-US"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가 되는 관계가 있다</a:t>
            </a:r>
            <a:r>
              <a:rPr kumimoji="0" lang="en-US" altLang="ko-KR" sz="1800" b="1" i="0" u="none" strike="noStrike" kern="1200" cap="none" spc="0" normalizeH="0" baseline="0" noProof="0" dirty="0">
                <a:ln>
                  <a:noFill/>
                </a:ln>
                <a:solidFill>
                  <a:schemeClr val="accent5"/>
                </a:solidFill>
                <a:effectLst/>
                <a:uLnTx/>
                <a:uFillTx/>
                <a:latin typeface="맑은 고딕" panose="020F0502020204030204"/>
                <a:ea typeface="맑은 고딕" panose="020B0503020000020004" pitchFamily="50" charset="-127"/>
                <a:cs typeface="+mn-cs"/>
                <a:sym typeface="Wingdings" panose="05000000000000000000" pitchFamily="2" charset="2"/>
              </a:rPr>
              <a:t>.</a:t>
            </a:r>
          </a:p>
        </p:txBody>
      </p:sp>
      <p:sp>
        <p:nvSpPr>
          <p:cNvPr id="20" name="직사각형 19">
            <a:extLst>
              <a:ext uri="{FF2B5EF4-FFF2-40B4-BE49-F238E27FC236}">
                <a16:creationId xmlns:a16="http://schemas.microsoft.com/office/drawing/2014/main" id="{5E937158-8976-4CD9-AC0D-F79E5E1DDFAF}"/>
              </a:ext>
            </a:extLst>
          </p:cNvPr>
          <p:cNvSpPr/>
          <p:nvPr/>
        </p:nvSpPr>
        <p:spPr>
          <a:xfrm>
            <a:off x="1830869" y="5202030"/>
            <a:ext cx="4220258" cy="369332"/>
          </a:xfrm>
          <a:prstGeom prst="rect">
            <a:avLst/>
          </a:prstGeom>
        </p:spPr>
        <p:txBody>
          <a:bodyPr wrap="none">
            <a:spAutoFit/>
          </a:bodyPr>
          <a:lstStyle/>
          <a:p>
            <a:pPr marR="0" lvl="0" algn="l" defTabSz="914400" rtl="0" eaLnBrk="1" fontAlgn="auto" latinLnBrk="1" hangingPunct="1">
              <a:lnSpc>
                <a:spcPct val="10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Second UDP 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응답된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p>
        </p:txBody>
      </p:sp>
      <p:sp>
        <p:nvSpPr>
          <p:cNvPr id="21" name="직사각형 20">
            <a:extLst>
              <a:ext uri="{FF2B5EF4-FFF2-40B4-BE49-F238E27FC236}">
                <a16:creationId xmlns:a16="http://schemas.microsoft.com/office/drawing/2014/main" id="{7C453C8C-CFCB-4F11-89D6-B9B2E61D927A}"/>
              </a:ext>
            </a:extLst>
          </p:cNvPr>
          <p:cNvSpPr/>
          <p:nvPr/>
        </p:nvSpPr>
        <p:spPr>
          <a:xfrm>
            <a:off x="1931137" y="4217145"/>
            <a:ext cx="3897798" cy="369332"/>
          </a:xfrm>
          <a:prstGeom prst="rect">
            <a:avLst/>
          </a:prstGeom>
        </p:spPr>
        <p:txBody>
          <a:bodyPr wrap="none">
            <a:spAutoFit/>
          </a:bodyPr>
          <a:lstStyle/>
          <a:p>
            <a:pPr marR="0" lvl="0" algn="l" defTabSz="914400" rtl="0" eaLnBrk="1" fontAlgn="auto" latinLnBrk="1" hangingPunct="1">
              <a:lnSpc>
                <a:spcPct val="10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First UDP Packet(</a:t>
            </a:r>
            <a:r>
              <a:rPr kumimoji="0" lang="ko-KR" altLang="en-US"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전송된 </a:t>
            </a:r>
            <a:r>
              <a:rPr kumimoji="0" lang="en-US" altLang="ko-KR" sz="1800" b="1" i="0" u="none" strike="noStrike" kern="1200" cap="none" spc="0" normalizeH="0" baseline="0" noProof="0" dirty="0">
                <a:ln>
                  <a:noFill/>
                </a:ln>
                <a:solidFill>
                  <a:srgbClr val="576067"/>
                </a:solidFill>
                <a:effectLst/>
                <a:uLnTx/>
                <a:uFillTx/>
                <a:latin typeface="맑은 고딕" panose="020F0502020204030204"/>
                <a:ea typeface="맑은 고딕" panose="020B0503020000020004" pitchFamily="50" charset="-127"/>
                <a:cs typeface="+mn-cs"/>
                <a:sym typeface="Wingdings" panose="05000000000000000000" pitchFamily="2" charset="2"/>
              </a:rPr>
              <a:t>Packet)</a:t>
            </a:r>
          </a:p>
        </p:txBody>
      </p:sp>
      <p:sp>
        <p:nvSpPr>
          <p:cNvPr id="14" name="화살표: 왼쪽으로 구부러짐 13">
            <a:extLst>
              <a:ext uri="{FF2B5EF4-FFF2-40B4-BE49-F238E27FC236}">
                <a16:creationId xmlns:a16="http://schemas.microsoft.com/office/drawing/2014/main" id="{3758747A-875C-43C6-B21F-55E7BBE0A5A9}"/>
              </a:ext>
            </a:extLst>
          </p:cNvPr>
          <p:cNvSpPr/>
          <p:nvPr/>
        </p:nvSpPr>
        <p:spPr>
          <a:xfrm>
            <a:off x="5306771" y="4696959"/>
            <a:ext cx="1299538" cy="1489956"/>
          </a:xfrm>
          <a:prstGeom prst="curvedLeftArrow">
            <a:avLst>
              <a:gd name="adj1" fmla="val 10824"/>
              <a:gd name="adj2" fmla="val 37141"/>
              <a:gd name="adj3" fmla="val 30114"/>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6" name="직사각형 15">
            <a:extLst>
              <a:ext uri="{FF2B5EF4-FFF2-40B4-BE49-F238E27FC236}">
                <a16:creationId xmlns:a16="http://schemas.microsoft.com/office/drawing/2014/main" id="{DBFFF269-EC6A-4C0B-A1A8-B0225CBC4A2D}"/>
              </a:ext>
            </a:extLst>
          </p:cNvPr>
          <p:cNvSpPr/>
          <p:nvPr/>
        </p:nvSpPr>
        <p:spPr>
          <a:xfrm>
            <a:off x="6593911" y="5087621"/>
            <a:ext cx="2547492" cy="523220"/>
          </a:xfrm>
          <a:prstGeom prst="rect">
            <a:avLst/>
          </a:prstGeom>
        </p:spPr>
        <p:txBody>
          <a:bodyPr wrap="square">
            <a:spAutoFit/>
          </a:bodyPr>
          <a:lstStyle/>
          <a:p>
            <a:pPr algn="ctr"/>
            <a:r>
              <a:rPr lang="ko-KR" altLang="en-US" sz="1400" b="1" dirty="0">
                <a:solidFill>
                  <a:schemeClr val="accent5"/>
                </a:solidFill>
                <a:sym typeface="Wingdings" panose="05000000000000000000" pitchFamily="2" charset="2"/>
              </a:rPr>
              <a:t>이를 보면 두 </a:t>
            </a:r>
            <a:r>
              <a:rPr lang="en-US" altLang="ko-KR" sz="1400" b="1" dirty="0">
                <a:solidFill>
                  <a:schemeClr val="accent5"/>
                </a:solidFill>
                <a:sym typeface="Wingdings" panose="05000000000000000000" pitchFamily="2" charset="2"/>
              </a:rPr>
              <a:t>Packet</a:t>
            </a:r>
            <a:r>
              <a:rPr lang="ko-KR" altLang="en-US" sz="1400" b="1" dirty="0">
                <a:solidFill>
                  <a:schemeClr val="accent5"/>
                </a:solidFill>
                <a:sym typeface="Wingdings" panose="05000000000000000000" pitchFamily="2" charset="2"/>
              </a:rPr>
              <a:t>의 </a:t>
            </a:r>
            <a:r>
              <a:rPr lang="en-US" altLang="ko-KR" sz="1400" b="1" dirty="0">
                <a:solidFill>
                  <a:schemeClr val="accent5"/>
                </a:solidFill>
                <a:sym typeface="Wingdings" panose="05000000000000000000" pitchFamily="2" charset="2"/>
              </a:rPr>
              <a:t>Port </a:t>
            </a:r>
            <a:r>
              <a:rPr lang="ko-KR" altLang="en-US" sz="1400" b="1" dirty="0">
                <a:solidFill>
                  <a:schemeClr val="accent5"/>
                </a:solidFill>
                <a:sym typeface="Wingdings" panose="05000000000000000000" pitchFamily="2" charset="2"/>
              </a:rPr>
              <a:t>번호 간의 관계를 알 수 있다</a:t>
            </a:r>
            <a:r>
              <a:rPr lang="en-US" altLang="ko-KR" sz="1400" b="1" dirty="0">
                <a:solidFill>
                  <a:schemeClr val="accent5"/>
                </a:solidFill>
                <a:sym typeface="Wingdings" panose="05000000000000000000" pitchFamily="2" charset="2"/>
              </a:rPr>
              <a:t>.</a:t>
            </a:r>
            <a:endParaRPr lang="ko-KR" altLang="en-US" sz="1400" dirty="0">
              <a:solidFill>
                <a:schemeClr val="accent5"/>
              </a:solidFill>
            </a:endParaRPr>
          </a:p>
        </p:txBody>
      </p:sp>
      <p:pic>
        <p:nvPicPr>
          <p:cNvPr id="23" name="그림 22">
            <a:extLst>
              <a:ext uri="{FF2B5EF4-FFF2-40B4-BE49-F238E27FC236}">
                <a16:creationId xmlns:a16="http://schemas.microsoft.com/office/drawing/2014/main" id="{EE594022-0541-471A-8865-FFD0F8245863}"/>
              </a:ext>
            </a:extLst>
          </p:cNvPr>
          <p:cNvPicPr>
            <a:picLocks noChangeAspect="1"/>
          </p:cNvPicPr>
          <p:nvPr/>
        </p:nvPicPr>
        <p:blipFill>
          <a:blip r:embed="rId2"/>
          <a:stretch>
            <a:fillRect/>
          </a:stretch>
        </p:blipFill>
        <p:spPr>
          <a:xfrm>
            <a:off x="2612327" y="4582904"/>
            <a:ext cx="2400300" cy="619125"/>
          </a:xfrm>
          <a:prstGeom prst="rect">
            <a:avLst/>
          </a:prstGeom>
        </p:spPr>
      </p:pic>
      <p:pic>
        <p:nvPicPr>
          <p:cNvPr id="24" name="그림 23">
            <a:extLst>
              <a:ext uri="{FF2B5EF4-FFF2-40B4-BE49-F238E27FC236}">
                <a16:creationId xmlns:a16="http://schemas.microsoft.com/office/drawing/2014/main" id="{F43DD042-DE4C-4387-92E9-6C478BDB85C8}"/>
              </a:ext>
            </a:extLst>
          </p:cNvPr>
          <p:cNvPicPr>
            <a:picLocks noChangeAspect="1"/>
          </p:cNvPicPr>
          <p:nvPr/>
        </p:nvPicPr>
        <p:blipFill>
          <a:blip r:embed="rId3"/>
          <a:stretch>
            <a:fillRect/>
          </a:stretch>
        </p:blipFill>
        <p:spPr>
          <a:xfrm>
            <a:off x="2532646" y="5626726"/>
            <a:ext cx="2800350" cy="504825"/>
          </a:xfrm>
          <a:prstGeom prst="rect">
            <a:avLst/>
          </a:prstGeom>
        </p:spPr>
      </p:pic>
    </p:spTree>
    <p:extLst>
      <p:ext uri="{BB962C8B-B14F-4D97-AF65-F5344CB8AC3E}">
        <p14:creationId xmlns:p14="http://schemas.microsoft.com/office/powerpoint/2010/main" val="1262700444"/>
      </p:ext>
    </p:extLst>
  </p:cSld>
  <p:clrMapOvr>
    <a:masterClrMapping/>
  </p:clrMapOvr>
</p:sld>
</file>

<file path=ppt/theme/theme1.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2665</TotalTime>
  <Words>1285</Words>
  <Application>Microsoft Office PowerPoint</Application>
  <PresentationFormat>와이드스크린</PresentationFormat>
  <Paragraphs>139</Paragraphs>
  <Slides>18</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18</vt:i4>
      </vt:variant>
    </vt:vector>
  </HeadingPairs>
  <TitlesOfParts>
    <vt:vector size="24" baseType="lpstr">
      <vt:lpstr>맑은 고딕</vt:lpstr>
      <vt:lpstr>Arial</vt:lpstr>
      <vt:lpstr>Bookman Old Style</vt:lpstr>
      <vt:lpstr>Wingdings</vt:lpstr>
      <vt:lpstr>Wingdings 3</vt:lpstr>
      <vt:lpstr>1_Office 테마</vt:lpstr>
      <vt:lpstr>PowerPoint 프레젠테이션</vt:lpstr>
      <vt:lpstr>Lab 03 : UDP on Wireshark</vt:lpstr>
      <vt:lpstr>Lab 03 : UDP on Wireshark</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dc:creator>
  <cp:lastModifiedBy>이 혜인</cp:lastModifiedBy>
  <cp:revision>447</cp:revision>
  <dcterms:created xsi:type="dcterms:W3CDTF">2017-04-28T07:42:30Z</dcterms:created>
  <dcterms:modified xsi:type="dcterms:W3CDTF">2020-03-06T13:20:34Z</dcterms:modified>
</cp:coreProperties>
</file>